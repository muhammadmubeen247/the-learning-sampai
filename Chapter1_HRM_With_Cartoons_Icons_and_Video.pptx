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3" r:id="rId9"/>
    <p:sldId id="263" r:id="rId10"/>
    <p:sldId id="265" r:id="rId11"/>
    <p:sldId id="266" r:id="rId12"/>
    <p:sldId id="284" r:id="rId13"/>
    <p:sldId id="285" r:id="rId14"/>
    <p:sldId id="286" r:id="rId15"/>
    <p:sldId id="267" r:id="rId16"/>
    <p:sldId id="278" r:id="rId17"/>
    <p:sldId id="279" r:id="rId18"/>
    <p:sldId id="269" r:id="rId19"/>
    <p:sldId id="280" r:id="rId20"/>
    <p:sldId id="270" r:id="rId21"/>
    <p:sldId id="281" r:id="rId22"/>
    <p:sldId id="264" r:id="rId23"/>
    <p:sldId id="287" r:id="rId24"/>
    <p:sldId id="282" r:id="rId25"/>
    <p:sldId id="271" r:id="rId26"/>
    <p:sldId id="272" r:id="rId27"/>
    <p:sldId id="273" r:id="rId28"/>
    <p:sldId id="276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97"/>
  </p:normalViewPr>
  <p:slideViewPr>
    <p:cSldViewPr snapToGrid="0" snapToObjects="1">
      <p:cViewPr varScale="1">
        <p:scale>
          <a:sx n="78" d="100"/>
          <a:sy n="78" d="100"/>
        </p:scale>
        <p:origin x="86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B5905B-7F93-4482-9C4A-2D652F195375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030C60-3F61-4203-B74D-4C29D17EA9A7}">
      <dgm:prSet/>
      <dgm:spPr/>
      <dgm:t>
        <a:bodyPr/>
        <a:lstStyle/>
        <a:p>
          <a:r>
            <a:rPr lang="en-US"/>
            <a:t>CLO-1 focuses on understanding the foundations, scope, and strategic importance of HRM.</a:t>
          </a:r>
        </a:p>
      </dgm:t>
    </dgm:pt>
    <dgm:pt modelId="{7DA3E617-1744-4CA0-936B-02D647856190}" type="parTrans" cxnId="{6FB0D9DF-116C-4635-AD86-C21E73935E7C}">
      <dgm:prSet/>
      <dgm:spPr/>
      <dgm:t>
        <a:bodyPr/>
        <a:lstStyle/>
        <a:p>
          <a:endParaRPr lang="en-US"/>
        </a:p>
      </dgm:t>
    </dgm:pt>
    <dgm:pt modelId="{7C62F870-2BCF-4A7B-A5FA-B5C8A8786DDC}" type="sibTrans" cxnId="{6FB0D9DF-116C-4635-AD86-C21E73935E7C}">
      <dgm:prSet/>
      <dgm:spPr/>
      <dgm:t>
        <a:bodyPr/>
        <a:lstStyle/>
        <a:p>
          <a:endParaRPr lang="en-US"/>
        </a:p>
      </dgm:t>
    </dgm:pt>
    <dgm:pt modelId="{B0C4B88E-96E1-4FCA-9546-196376E25ACB}">
      <dgm:prSet/>
      <dgm:spPr/>
      <dgm:t>
        <a:bodyPr/>
        <a:lstStyle/>
        <a:p>
          <a:r>
            <a:rPr lang="en-US"/>
            <a:t>Bloom’s Taxonomy Level: C2 – Understanding, emphasizing conceptual clarity.</a:t>
          </a:r>
        </a:p>
      </dgm:t>
    </dgm:pt>
    <dgm:pt modelId="{BB015549-BCDB-4872-8685-18D3512E7155}" type="parTrans" cxnId="{60D96F2A-DB8A-4817-847B-07CC89EE9C9F}">
      <dgm:prSet/>
      <dgm:spPr/>
      <dgm:t>
        <a:bodyPr/>
        <a:lstStyle/>
        <a:p>
          <a:endParaRPr lang="en-US"/>
        </a:p>
      </dgm:t>
    </dgm:pt>
    <dgm:pt modelId="{7AD9FD7B-C55C-4441-812C-C031652CD9E7}" type="sibTrans" cxnId="{60D96F2A-DB8A-4817-847B-07CC89EE9C9F}">
      <dgm:prSet/>
      <dgm:spPr/>
      <dgm:t>
        <a:bodyPr/>
        <a:lstStyle/>
        <a:p>
          <a:endParaRPr lang="en-US"/>
        </a:p>
      </dgm:t>
    </dgm:pt>
    <dgm:pt modelId="{B7483B27-6E83-4282-A92B-9D532C6B1757}">
      <dgm:prSet/>
      <dgm:spPr/>
      <dgm:t>
        <a:bodyPr/>
        <a:lstStyle/>
        <a:p>
          <a:r>
            <a:rPr lang="en-US"/>
            <a:t>Mapped to PLO-1 (Core Business Knowledge) for BBA graduates.</a:t>
          </a:r>
        </a:p>
      </dgm:t>
    </dgm:pt>
    <dgm:pt modelId="{3CF85396-1E5A-4AA9-9129-241BCE6FF9A3}" type="parTrans" cxnId="{FE8B5B2F-3996-4EEB-B13B-9A7F3A07D3D9}">
      <dgm:prSet/>
      <dgm:spPr/>
      <dgm:t>
        <a:bodyPr/>
        <a:lstStyle/>
        <a:p>
          <a:endParaRPr lang="en-US"/>
        </a:p>
      </dgm:t>
    </dgm:pt>
    <dgm:pt modelId="{BE7A1718-E0D5-42F0-895F-FFC440B19B5B}" type="sibTrans" cxnId="{FE8B5B2F-3996-4EEB-B13B-9A7F3A07D3D9}">
      <dgm:prSet/>
      <dgm:spPr/>
      <dgm:t>
        <a:bodyPr/>
        <a:lstStyle/>
        <a:p>
          <a:endParaRPr lang="en-US"/>
        </a:p>
      </dgm:t>
    </dgm:pt>
    <dgm:pt modelId="{7C1CED47-6380-4DD1-8712-D1D7B03E7FE5}">
      <dgm:prSet/>
      <dgm:spPr/>
      <dgm:t>
        <a:bodyPr/>
        <a:lstStyle/>
        <a:p>
          <a:r>
            <a:rPr lang="en-US"/>
            <a:t>Chapter 1 develops essential HR vocabulary and strategic perspective.</a:t>
          </a:r>
        </a:p>
      </dgm:t>
    </dgm:pt>
    <dgm:pt modelId="{5DB3AEBF-69D8-4871-AE69-981008B5AF2B}" type="parTrans" cxnId="{02FC30BE-8E9B-401F-AB3D-5EC6C294DA17}">
      <dgm:prSet/>
      <dgm:spPr/>
      <dgm:t>
        <a:bodyPr/>
        <a:lstStyle/>
        <a:p>
          <a:endParaRPr lang="en-US"/>
        </a:p>
      </dgm:t>
    </dgm:pt>
    <dgm:pt modelId="{DB74F752-EA2D-48C7-A4A8-231212F09B6A}" type="sibTrans" cxnId="{02FC30BE-8E9B-401F-AB3D-5EC6C294DA17}">
      <dgm:prSet/>
      <dgm:spPr/>
      <dgm:t>
        <a:bodyPr/>
        <a:lstStyle/>
        <a:p>
          <a:endParaRPr lang="en-US"/>
        </a:p>
      </dgm:t>
    </dgm:pt>
    <dgm:pt modelId="{AD0D3D32-157E-CD47-B9F9-8E3C5BB79255}" type="pres">
      <dgm:prSet presAssocID="{2DB5905B-7F93-4482-9C4A-2D652F195375}" presName="diagram" presStyleCnt="0">
        <dgm:presLayoutVars>
          <dgm:dir/>
          <dgm:resizeHandles val="exact"/>
        </dgm:presLayoutVars>
      </dgm:prSet>
      <dgm:spPr/>
    </dgm:pt>
    <dgm:pt modelId="{1BA5DF6E-CB01-5C4C-A413-9DD793162D37}" type="pres">
      <dgm:prSet presAssocID="{57030C60-3F61-4203-B74D-4C29D17EA9A7}" presName="node" presStyleLbl="node1" presStyleIdx="0" presStyleCnt="4">
        <dgm:presLayoutVars>
          <dgm:bulletEnabled val="1"/>
        </dgm:presLayoutVars>
      </dgm:prSet>
      <dgm:spPr/>
    </dgm:pt>
    <dgm:pt modelId="{E901B5A5-EBB4-7F44-8008-604C065A567D}" type="pres">
      <dgm:prSet presAssocID="{7C62F870-2BCF-4A7B-A5FA-B5C8A8786DDC}" presName="sibTrans" presStyleCnt="0"/>
      <dgm:spPr/>
    </dgm:pt>
    <dgm:pt modelId="{3CC5558A-596A-1F42-A989-0EC62D98FD35}" type="pres">
      <dgm:prSet presAssocID="{B0C4B88E-96E1-4FCA-9546-196376E25ACB}" presName="node" presStyleLbl="node1" presStyleIdx="1" presStyleCnt="4">
        <dgm:presLayoutVars>
          <dgm:bulletEnabled val="1"/>
        </dgm:presLayoutVars>
      </dgm:prSet>
      <dgm:spPr/>
    </dgm:pt>
    <dgm:pt modelId="{DCC3D077-E373-E649-9467-443B25ECAE9A}" type="pres">
      <dgm:prSet presAssocID="{7AD9FD7B-C55C-4441-812C-C031652CD9E7}" presName="sibTrans" presStyleCnt="0"/>
      <dgm:spPr/>
    </dgm:pt>
    <dgm:pt modelId="{1FD7184D-41C0-5A44-A79B-26B9B0EF7146}" type="pres">
      <dgm:prSet presAssocID="{B7483B27-6E83-4282-A92B-9D532C6B1757}" presName="node" presStyleLbl="node1" presStyleIdx="2" presStyleCnt="4">
        <dgm:presLayoutVars>
          <dgm:bulletEnabled val="1"/>
        </dgm:presLayoutVars>
      </dgm:prSet>
      <dgm:spPr/>
    </dgm:pt>
    <dgm:pt modelId="{CEBE4D6E-04E3-7245-80CC-34BAF1ECA91D}" type="pres">
      <dgm:prSet presAssocID="{BE7A1718-E0D5-42F0-895F-FFC440B19B5B}" presName="sibTrans" presStyleCnt="0"/>
      <dgm:spPr/>
    </dgm:pt>
    <dgm:pt modelId="{177AF87D-A1A3-C949-A6E1-5CA9F203A7C3}" type="pres">
      <dgm:prSet presAssocID="{7C1CED47-6380-4DD1-8712-D1D7B03E7FE5}" presName="node" presStyleLbl="node1" presStyleIdx="3" presStyleCnt="4">
        <dgm:presLayoutVars>
          <dgm:bulletEnabled val="1"/>
        </dgm:presLayoutVars>
      </dgm:prSet>
      <dgm:spPr/>
    </dgm:pt>
  </dgm:ptLst>
  <dgm:cxnLst>
    <dgm:cxn modelId="{51DB8F27-E5C3-AC48-9E16-61905B45BA7A}" type="presOf" srcId="{7C1CED47-6380-4DD1-8712-D1D7B03E7FE5}" destId="{177AF87D-A1A3-C949-A6E1-5CA9F203A7C3}" srcOrd="0" destOrd="0" presId="urn:microsoft.com/office/officeart/2005/8/layout/default"/>
    <dgm:cxn modelId="{60D96F2A-DB8A-4817-847B-07CC89EE9C9F}" srcId="{2DB5905B-7F93-4482-9C4A-2D652F195375}" destId="{B0C4B88E-96E1-4FCA-9546-196376E25ACB}" srcOrd="1" destOrd="0" parTransId="{BB015549-BCDB-4872-8685-18D3512E7155}" sibTransId="{7AD9FD7B-C55C-4441-812C-C031652CD9E7}"/>
    <dgm:cxn modelId="{FE8B5B2F-3996-4EEB-B13B-9A7F3A07D3D9}" srcId="{2DB5905B-7F93-4482-9C4A-2D652F195375}" destId="{B7483B27-6E83-4282-A92B-9D532C6B1757}" srcOrd="2" destOrd="0" parTransId="{3CF85396-1E5A-4AA9-9129-241BCE6FF9A3}" sibTransId="{BE7A1718-E0D5-42F0-895F-FFC440B19B5B}"/>
    <dgm:cxn modelId="{3D210A61-BFF7-5B45-9153-9766F5D09504}" type="presOf" srcId="{B7483B27-6E83-4282-A92B-9D532C6B1757}" destId="{1FD7184D-41C0-5A44-A79B-26B9B0EF7146}" srcOrd="0" destOrd="0" presId="urn:microsoft.com/office/officeart/2005/8/layout/default"/>
    <dgm:cxn modelId="{3ACD6E67-C233-7C45-8846-B6C93742D56E}" type="presOf" srcId="{57030C60-3F61-4203-B74D-4C29D17EA9A7}" destId="{1BA5DF6E-CB01-5C4C-A413-9DD793162D37}" srcOrd="0" destOrd="0" presId="urn:microsoft.com/office/officeart/2005/8/layout/default"/>
    <dgm:cxn modelId="{48FDA669-CF05-1F43-AC6A-28CCFA1996AD}" type="presOf" srcId="{B0C4B88E-96E1-4FCA-9546-196376E25ACB}" destId="{3CC5558A-596A-1F42-A989-0EC62D98FD35}" srcOrd="0" destOrd="0" presId="urn:microsoft.com/office/officeart/2005/8/layout/default"/>
    <dgm:cxn modelId="{AE7EEB86-13B2-494E-99CB-5D5BCA339253}" type="presOf" srcId="{2DB5905B-7F93-4482-9C4A-2D652F195375}" destId="{AD0D3D32-157E-CD47-B9F9-8E3C5BB79255}" srcOrd="0" destOrd="0" presId="urn:microsoft.com/office/officeart/2005/8/layout/default"/>
    <dgm:cxn modelId="{02FC30BE-8E9B-401F-AB3D-5EC6C294DA17}" srcId="{2DB5905B-7F93-4482-9C4A-2D652F195375}" destId="{7C1CED47-6380-4DD1-8712-D1D7B03E7FE5}" srcOrd="3" destOrd="0" parTransId="{5DB3AEBF-69D8-4871-AE69-981008B5AF2B}" sibTransId="{DB74F752-EA2D-48C7-A4A8-231212F09B6A}"/>
    <dgm:cxn modelId="{6FB0D9DF-116C-4635-AD86-C21E73935E7C}" srcId="{2DB5905B-7F93-4482-9C4A-2D652F195375}" destId="{57030C60-3F61-4203-B74D-4C29D17EA9A7}" srcOrd="0" destOrd="0" parTransId="{7DA3E617-1744-4CA0-936B-02D647856190}" sibTransId="{7C62F870-2BCF-4A7B-A5FA-B5C8A8786DDC}"/>
    <dgm:cxn modelId="{95F3C130-F3FE-1A4E-9BA5-02C2493261A7}" type="presParOf" srcId="{AD0D3D32-157E-CD47-B9F9-8E3C5BB79255}" destId="{1BA5DF6E-CB01-5C4C-A413-9DD793162D37}" srcOrd="0" destOrd="0" presId="urn:microsoft.com/office/officeart/2005/8/layout/default"/>
    <dgm:cxn modelId="{C9C759C4-D374-AD40-A630-96A79DB19DE8}" type="presParOf" srcId="{AD0D3D32-157E-CD47-B9F9-8E3C5BB79255}" destId="{E901B5A5-EBB4-7F44-8008-604C065A567D}" srcOrd="1" destOrd="0" presId="urn:microsoft.com/office/officeart/2005/8/layout/default"/>
    <dgm:cxn modelId="{8325F59F-69E0-9641-9699-8715DC32F4BD}" type="presParOf" srcId="{AD0D3D32-157E-CD47-B9F9-8E3C5BB79255}" destId="{3CC5558A-596A-1F42-A989-0EC62D98FD35}" srcOrd="2" destOrd="0" presId="urn:microsoft.com/office/officeart/2005/8/layout/default"/>
    <dgm:cxn modelId="{04296184-4416-2443-B6B2-3FAF82966584}" type="presParOf" srcId="{AD0D3D32-157E-CD47-B9F9-8E3C5BB79255}" destId="{DCC3D077-E373-E649-9467-443B25ECAE9A}" srcOrd="3" destOrd="0" presId="urn:microsoft.com/office/officeart/2005/8/layout/default"/>
    <dgm:cxn modelId="{BB423D62-5299-BA44-8640-186C05C90FEA}" type="presParOf" srcId="{AD0D3D32-157E-CD47-B9F9-8E3C5BB79255}" destId="{1FD7184D-41C0-5A44-A79B-26B9B0EF7146}" srcOrd="4" destOrd="0" presId="urn:microsoft.com/office/officeart/2005/8/layout/default"/>
    <dgm:cxn modelId="{738B88D9-66C1-FA47-AF55-70B815A25EB1}" type="presParOf" srcId="{AD0D3D32-157E-CD47-B9F9-8E3C5BB79255}" destId="{CEBE4D6E-04E3-7245-80CC-34BAF1ECA91D}" srcOrd="5" destOrd="0" presId="urn:microsoft.com/office/officeart/2005/8/layout/default"/>
    <dgm:cxn modelId="{9EDD244B-00A9-AC49-BA25-81C4924D330D}" type="presParOf" srcId="{AD0D3D32-157E-CD47-B9F9-8E3C5BB79255}" destId="{177AF87D-A1A3-C949-A6E1-5CA9F203A7C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D132EE-2483-4E9A-8595-0AB509501A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03F1057-EDC2-46A0-9287-195472C49765}">
      <dgm:prSet/>
      <dgm:spPr/>
      <dgm:t>
        <a:bodyPr/>
        <a:lstStyle/>
        <a:p>
          <a:r>
            <a:rPr lang="en-US"/>
            <a:t>Human Resource Management (HRM) is the managerial process of effectively utilizing people at work.</a:t>
          </a:r>
        </a:p>
      </dgm:t>
    </dgm:pt>
    <dgm:pt modelId="{43CA00EC-0190-4704-B8D0-79A026C87BE2}" type="parTrans" cxnId="{CDDEAC87-E036-464F-AAFD-7E1DF7307972}">
      <dgm:prSet/>
      <dgm:spPr/>
      <dgm:t>
        <a:bodyPr/>
        <a:lstStyle/>
        <a:p>
          <a:endParaRPr lang="en-US"/>
        </a:p>
      </dgm:t>
    </dgm:pt>
    <dgm:pt modelId="{75A54C9A-3740-4EE2-B292-ACB5BFA4FF41}" type="sibTrans" cxnId="{CDDEAC87-E036-464F-AAFD-7E1DF7307972}">
      <dgm:prSet/>
      <dgm:spPr/>
      <dgm:t>
        <a:bodyPr/>
        <a:lstStyle/>
        <a:p>
          <a:endParaRPr lang="en-US"/>
        </a:p>
      </dgm:t>
    </dgm:pt>
    <dgm:pt modelId="{74BB30E6-9318-4DB6-9545-888C887A2A2C}">
      <dgm:prSet/>
      <dgm:spPr/>
      <dgm:t>
        <a:bodyPr/>
        <a:lstStyle/>
        <a:p>
          <a:r>
            <a:rPr lang="en-US"/>
            <a:t>It involves attracting, developing, motivating, and retaining employees in organizations.</a:t>
          </a:r>
        </a:p>
      </dgm:t>
    </dgm:pt>
    <dgm:pt modelId="{E8A105D5-F39D-4762-8787-58C58987A268}" type="parTrans" cxnId="{36E45E82-65F2-4820-9210-1664FE81DC43}">
      <dgm:prSet/>
      <dgm:spPr/>
      <dgm:t>
        <a:bodyPr/>
        <a:lstStyle/>
        <a:p>
          <a:endParaRPr lang="en-US"/>
        </a:p>
      </dgm:t>
    </dgm:pt>
    <dgm:pt modelId="{E73B5EFD-EB9D-485D-8F2A-F735B5A1C362}" type="sibTrans" cxnId="{36E45E82-65F2-4820-9210-1664FE81DC43}">
      <dgm:prSet/>
      <dgm:spPr/>
      <dgm:t>
        <a:bodyPr/>
        <a:lstStyle/>
        <a:p>
          <a:endParaRPr lang="en-US"/>
        </a:p>
      </dgm:t>
    </dgm:pt>
    <dgm:pt modelId="{869C94E9-3410-401B-A136-0B0D0D9B7887}">
      <dgm:prSet/>
      <dgm:spPr/>
      <dgm:t>
        <a:bodyPr/>
        <a:lstStyle/>
        <a:p>
          <a:r>
            <a:rPr lang="en-US"/>
            <a:t>Modern HRM views employees as human capital and strategic assets.</a:t>
          </a:r>
        </a:p>
      </dgm:t>
    </dgm:pt>
    <dgm:pt modelId="{113DB189-C827-4A08-AAA7-EC1837A71F71}" type="parTrans" cxnId="{7BCB85D7-6E1D-47EC-AE01-FE2AC0089860}">
      <dgm:prSet/>
      <dgm:spPr/>
      <dgm:t>
        <a:bodyPr/>
        <a:lstStyle/>
        <a:p>
          <a:endParaRPr lang="en-US"/>
        </a:p>
      </dgm:t>
    </dgm:pt>
    <dgm:pt modelId="{497C57A7-C1EA-4225-89B5-E17CEA7F9F4B}" type="sibTrans" cxnId="{7BCB85D7-6E1D-47EC-AE01-FE2AC0089860}">
      <dgm:prSet/>
      <dgm:spPr/>
      <dgm:t>
        <a:bodyPr/>
        <a:lstStyle/>
        <a:p>
          <a:endParaRPr lang="en-US"/>
        </a:p>
      </dgm:t>
    </dgm:pt>
    <dgm:pt modelId="{E8DE2932-B86E-4511-A2AD-E3E322FFF8C8}">
      <dgm:prSet/>
      <dgm:spPr/>
      <dgm:t>
        <a:bodyPr/>
        <a:lstStyle/>
        <a:p>
          <a:r>
            <a:rPr lang="en-US"/>
            <a:t>The goal of HRM is to align employee performance with organizational objectives.</a:t>
          </a:r>
        </a:p>
      </dgm:t>
    </dgm:pt>
    <dgm:pt modelId="{D70F80C5-F2AB-4BCF-8B04-B0488ECECB22}" type="parTrans" cxnId="{E4533AE0-EEEB-40FA-AA99-F55D0C33D594}">
      <dgm:prSet/>
      <dgm:spPr/>
      <dgm:t>
        <a:bodyPr/>
        <a:lstStyle/>
        <a:p>
          <a:endParaRPr lang="en-US"/>
        </a:p>
      </dgm:t>
    </dgm:pt>
    <dgm:pt modelId="{8A3B3A35-191D-4DB7-AD7F-21DD136B3630}" type="sibTrans" cxnId="{E4533AE0-EEEB-40FA-AA99-F55D0C33D594}">
      <dgm:prSet/>
      <dgm:spPr/>
      <dgm:t>
        <a:bodyPr/>
        <a:lstStyle/>
        <a:p>
          <a:endParaRPr lang="en-US"/>
        </a:p>
      </dgm:t>
    </dgm:pt>
    <dgm:pt modelId="{DEA8DB0B-D909-47DA-9C0D-23AE27812489}" type="pres">
      <dgm:prSet presAssocID="{6AD132EE-2483-4E9A-8595-0AB509501ACD}" presName="root" presStyleCnt="0">
        <dgm:presLayoutVars>
          <dgm:dir/>
          <dgm:resizeHandles val="exact"/>
        </dgm:presLayoutVars>
      </dgm:prSet>
      <dgm:spPr/>
    </dgm:pt>
    <dgm:pt modelId="{A24ED4A7-EE5C-4802-857E-94F5A012EDD6}" type="pres">
      <dgm:prSet presAssocID="{103F1057-EDC2-46A0-9287-195472C49765}" presName="compNode" presStyleCnt="0"/>
      <dgm:spPr/>
    </dgm:pt>
    <dgm:pt modelId="{014A2D63-F425-4745-9909-8E30E6A3375E}" type="pres">
      <dgm:prSet presAssocID="{103F1057-EDC2-46A0-9287-195472C49765}" presName="bgRect" presStyleLbl="bgShp" presStyleIdx="0" presStyleCnt="4"/>
      <dgm:spPr/>
    </dgm:pt>
    <dgm:pt modelId="{2CCEAB2D-C95C-496B-A1EB-980E026C9753}" type="pres">
      <dgm:prSet presAssocID="{103F1057-EDC2-46A0-9287-195472C4976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D3BA870-9FAF-47E1-A3DA-B33C11530445}" type="pres">
      <dgm:prSet presAssocID="{103F1057-EDC2-46A0-9287-195472C49765}" presName="spaceRect" presStyleCnt="0"/>
      <dgm:spPr/>
    </dgm:pt>
    <dgm:pt modelId="{5F4567C4-2FFB-4580-B01C-04DA7F301CDD}" type="pres">
      <dgm:prSet presAssocID="{103F1057-EDC2-46A0-9287-195472C49765}" presName="parTx" presStyleLbl="revTx" presStyleIdx="0" presStyleCnt="4">
        <dgm:presLayoutVars>
          <dgm:chMax val="0"/>
          <dgm:chPref val="0"/>
        </dgm:presLayoutVars>
      </dgm:prSet>
      <dgm:spPr/>
    </dgm:pt>
    <dgm:pt modelId="{F30E260D-BFE8-465F-BDD8-6758566E7F7B}" type="pres">
      <dgm:prSet presAssocID="{75A54C9A-3740-4EE2-B292-ACB5BFA4FF41}" presName="sibTrans" presStyleCnt="0"/>
      <dgm:spPr/>
    </dgm:pt>
    <dgm:pt modelId="{7A6D34C1-4DB9-447D-B4F7-F5C6BA2BF79E}" type="pres">
      <dgm:prSet presAssocID="{74BB30E6-9318-4DB6-9545-888C887A2A2C}" presName="compNode" presStyleCnt="0"/>
      <dgm:spPr/>
    </dgm:pt>
    <dgm:pt modelId="{83BB2BFF-71E8-410C-8638-CAF474781C82}" type="pres">
      <dgm:prSet presAssocID="{74BB30E6-9318-4DB6-9545-888C887A2A2C}" presName="bgRect" presStyleLbl="bgShp" presStyleIdx="1" presStyleCnt="4"/>
      <dgm:spPr/>
    </dgm:pt>
    <dgm:pt modelId="{2C3B65BD-A1DB-42F4-8460-FCF1C33071D0}" type="pres">
      <dgm:prSet presAssocID="{74BB30E6-9318-4DB6-9545-888C887A2A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D239055F-A22A-4CB9-9C9E-19B6619B4154}" type="pres">
      <dgm:prSet presAssocID="{74BB30E6-9318-4DB6-9545-888C887A2A2C}" presName="spaceRect" presStyleCnt="0"/>
      <dgm:spPr/>
    </dgm:pt>
    <dgm:pt modelId="{69B1334F-ED48-4761-A916-6E1448F93C4C}" type="pres">
      <dgm:prSet presAssocID="{74BB30E6-9318-4DB6-9545-888C887A2A2C}" presName="parTx" presStyleLbl="revTx" presStyleIdx="1" presStyleCnt="4">
        <dgm:presLayoutVars>
          <dgm:chMax val="0"/>
          <dgm:chPref val="0"/>
        </dgm:presLayoutVars>
      </dgm:prSet>
      <dgm:spPr/>
    </dgm:pt>
    <dgm:pt modelId="{82A05A92-5815-43BB-B375-5DBACA307A1C}" type="pres">
      <dgm:prSet presAssocID="{E73B5EFD-EB9D-485D-8F2A-F735B5A1C362}" presName="sibTrans" presStyleCnt="0"/>
      <dgm:spPr/>
    </dgm:pt>
    <dgm:pt modelId="{023BE51A-03C3-4B63-BABB-A009CDD2EECB}" type="pres">
      <dgm:prSet presAssocID="{869C94E9-3410-401B-A136-0B0D0D9B7887}" presName="compNode" presStyleCnt="0"/>
      <dgm:spPr/>
    </dgm:pt>
    <dgm:pt modelId="{A83609AC-7D71-4417-BDEC-98D672A4455D}" type="pres">
      <dgm:prSet presAssocID="{869C94E9-3410-401B-A136-0B0D0D9B7887}" presName="bgRect" presStyleLbl="bgShp" presStyleIdx="2" presStyleCnt="4"/>
      <dgm:spPr/>
    </dgm:pt>
    <dgm:pt modelId="{F5B92AE2-02FD-4D6A-B618-3F462F119C6D}" type="pres">
      <dgm:prSet presAssocID="{869C94E9-3410-401B-A136-0B0D0D9B788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5E6220E-7400-48AC-9F71-7D76A9DE0D30}" type="pres">
      <dgm:prSet presAssocID="{869C94E9-3410-401B-A136-0B0D0D9B7887}" presName="spaceRect" presStyleCnt="0"/>
      <dgm:spPr/>
    </dgm:pt>
    <dgm:pt modelId="{8300103A-3172-4597-A217-3A93497C2020}" type="pres">
      <dgm:prSet presAssocID="{869C94E9-3410-401B-A136-0B0D0D9B7887}" presName="parTx" presStyleLbl="revTx" presStyleIdx="2" presStyleCnt="4">
        <dgm:presLayoutVars>
          <dgm:chMax val="0"/>
          <dgm:chPref val="0"/>
        </dgm:presLayoutVars>
      </dgm:prSet>
      <dgm:spPr/>
    </dgm:pt>
    <dgm:pt modelId="{88280951-A892-4F7F-B3E7-6B92E20A7C1E}" type="pres">
      <dgm:prSet presAssocID="{497C57A7-C1EA-4225-89B5-E17CEA7F9F4B}" presName="sibTrans" presStyleCnt="0"/>
      <dgm:spPr/>
    </dgm:pt>
    <dgm:pt modelId="{C5347179-83D6-4186-A677-B51EAC07796A}" type="pres">
      <dgm:prSet presAssocID="{E8DE2932-B86E-4511-A2AD-E3E322FFF8C8}" presName="compNode" presStyleCnt="0"/>
      <dgm:spPr/>
    </dgm:pt>
    <dgm:pt modelId="{53E00D73-A918-42E6-AE6F-A11BB0CD8662}" type="pres">
      <dgm:prSet presAssocID="{E8DE2932-B86E-4511-A2AD-E3E322FFF8C8}" presName="bgRect" presStyleLbl="bgShp" presStyleIdx="3" presStyleCnt="4"/>
      <dgm:spPr/>
    </dgm:pt>
    <dgm:pt modelId="{68765801-FE62-464A-822C-FE06336C07BE}" type="pres">
      <dgm:prSet presAssocID="{E8DE2932-B86E-4511-A2AD-E3E322FFF8C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24D83204-D3C4-442B-8BCC-CF93306D24A7}" type="pres">
      <dgm:prSet presAssocID="{E8DE2932-B86E-4511-A2AD-E3E322FFF8C8}" presName="spaceRect" presStyleCnt="0"/>
      <dgm:spPr/>
    </dgm:pt>
    <dgm:pt modelId="{EE4BC498-3F58-4B0E-8C93-DA555EB5D44F}" type="pres">
      <dgm:prSet presAssocID="{E8DE2932-B86E-4511-A2AD-E3E322FFF8C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B60EC6B-2A9F-41B2-BF58-4DB05FCEE657}" type="presOf" srcId="{6AD132EE-2483-4E9A-8595-0AB509501ACD}" destId="{DEA8DB0B-D909-47DA-9C0D-23AE27812489}" srcOrd="0" destOrd="0" presId="urn:microsoft.com/office/officeart/2018/2/layout/IconVerticalSolidList"/>
    <dgm:cxn modelId="{36E45E82-65F2-4820-9210-1664FE81DC43}" srcId="{6AD132EE-2483-4E9A-8595-0AB509501ACD}" destId="{74BB30E6-9318-4DB6-9545-888C887A2A2C}" srcOrd="1" destOrd="0" parTransId="{E8A105D5-F39D-4762-8787-58C58987A268}" sibTransId="{E73B5EFD-EB9D-485D-8F2A-F735B5A1C362}"/>
    <dgm:cxn modelId="{CDDEAC87-E036-464F-AAFD-7E1DF7307972}" srcId="{6AD132EE-2483-4E9A-8595-0AB509501ACD}" destId="{103F1057-EDC2-46A0-9287-195472C49765}" srcOrd="0" destOrd="0" parTransId="{43CA00EC-0190-4704-B8D0-79A026C87BE2}" sibTransId="{75A54C9A-3740-4EE2-B292-ACB5BFA4FF41}"/>
    <dgm:cxn modelId="{605E9E8D-7B42-451D-BABE-E3B17732DBCA}" type="presOf" srcId="{869C94E9-3410-401B-A136-0B0D0D9B7887}" destId="{8300103A-3172-4597-A217-3A93497C2020}" srcOrd="0" destOrd="0" presId="urn:microsoft.com/office/officeart/2018/2/layout/IconVerticalSolidList"/>
    <dgm:cxn modelId="{7BCB85D7-6E1D-47EC-AE01-FE2AC0089860}" srcId="{6AD132EE-2483-4E9A-8595-0AB509501ACD}" destId="{869C94E9-3410-401B-A136-0B0D0D9B7887}" srcOrd="2" destOrd="0" parTransId="{113DB189-C827-4A08-AAA7-EC1837A71F71}" sibTransId="{497C57A7-C1EA-4225-89B5-E17CEA7F9F4B}"/>
    <dgm:cxn modelId="{9BD4A8D8-ACF3-4F99-AE8C-529DE065341B}" type="presOf" srcId="{74BB30E6-9318-4DB6-9545-888C887A2A2C}" destId="{69B1334F-ED48-4761-A916-6E1448F93C4C}" srcOrd="0" destOrd="0" presId="urn:microsoft.com/office/officeart/2018/2/layout/IconVerticalSolidList"/>
    <dgm:cxn modelId="{E4533AE0-EEEB-40FA-AA99-F55D0C33D594}" srcId="{6AD132EE-2483-4E9A-8595-0AB509501ACD}" destId="{E8DE2932-B86E-4511-A2AD-E3E322FFF8C8}" srcOrd="3" destOrd="0" parTransId="{D70F80C5-F2AB-4BCF-8B04-B0488ECECB22}" sibTransId="{8A3B3A35-191D-4DB7-AD7F-21DD136B3630}"/>
    <dgm:cxn modelId="{09E326E5-BAD8-4667-9A16-68C669C0B116}" type="presOf" srcId="{103F1057-EDC2-46A0-9287-195472C49765}" destId="{5F4567C4-2FFB-4580-B01C-04DA7F301CDD}" srcOrd="0" destOrd="0" presId="urn:microsoft.com/office/officeart/2018/2/layout/IconVerticalSolidList"/>
    <dgm:cxn modelId="{0A37DEE8-A7DE-4859-947F-86E9AEC16E99}" type="presOf" srcId="{E8DE2932-B86E-4511-A2AD-E3E322FFF8C8}" destId="{EE4BC498-3F58-4B0E-8C93-DA555EB5D44F}" srcOrd="0" destOrd="0" presId="urn:microsoft.com/office/officeart/2018/2/layout/IconVerticalSolidList"/>
    <dgm:cxn modelId="{4B1BFCAA-5E41-4C35-B53A-3372E6E49E6B}" type="presParOf" srcId="{DEA8DB0B-D909-47DA-9C0D-23AE27812489}" destId="{A24ED4A7-EE5C-4802-857E-94F5A012EDD6}" srcOrd="0" destOrd="0" presId="urn:microsoft.com/office/officeart/2018/2/layout/IconVerticalSolidList"/>
    <dgm:cxn modelId="{7D6AC3F0-58C7-4A66-A0AB-0BFE5CEDB06B}" type="presParOf" srcId="{A24ED4A7-EE5C-4802-857E-94F5A012EDD6}" destId="{014A2D63-F425-4745-9909-8E30E6A3375E}" srcOrd="0" destOrd="0" presId="urn:microsoft.com/office/officeart/2018/2/layout/IconVerticalSolidList"/>
    <dgm:cxn modelId="{5F732DD3-FE80-46F9-9F4F-85F6691FEFF6}" type="presParOf" srcId="{A24ED4A7-EE5C-4802-857E-94F5A012EDD6}" destId="{2CCEAB2D-C95C-496B-A1EB-980E026C9753}" srcOrd="1" destOrd="0" presId="urn:microsoft.com/office/officeart/2018/2/layout/IconVerticalSolidList"/>
    <dgm:cxn modelId="{FA6B32B1-A32B-4842-8B14-BB0322520348}" type="presParOf" srcId="{A24ED4A7-EE5C-4802-857E-94F5A012EDD6}" destId="{2D3BA870-9FAF-47E1-A3DA-B33C11530445}" srcOrd="2" destOrd="0" presId="urn:microsoft.com/office/officeart/2018/2/layout/IconVerticalSolidList"/>
    <dgm:cxn modelId="{1383643C-909E-4FB6-A462-412C10B0F8E8}" type="presParOf" srcId="{A24ED4A7-EE5C-4802-857E-94F5A012EDD6}" destId="{5F4567C4-2FFB-4580-B01C-04DA7F301CDD}" srcOrd="3" destOrd="0" presId="urn:microsoft.com/office/officeart/2018/2/layout/IconVerticalSolidList"/>
    <dgm:cxn modelId="{1D0EBB6A-442F-49BF-B25A-D46B95BB9FFD}" type="presParOf" srcId="{DEA8DB0B-D909-47DA-9C0D-23AE27812489}" destId="{F30E260D-BFE8-465F-BDD8-6758566E7F7B}" srcOrd="1" destOrd="0" presId="urn:microsoft.com/office/officeart/2018/2/layout/IconVerticalSolidList"/>
    <dgm:cxn modelId="{311E5C0C-6873-4DB0-99F7-3CC6C1EFDA99}" type="presParOf" srcId="{DEA8DB0B-D909-47DA-9C0D-23AE27812489}" destId="{7A6D34C1-4DB9-447D-B4F7-F5C6BA2BF79E}" srcOrd="2" destOrd="0" presId="urn:microsoft.com/office/officeart/2018/2/layout/IconVerticalSolidList"/>
    <dgm:cxn modelId="{CEA5C809-A688-4E5B-BD26-ACDC2EECAAC2}" type="presParOf" srcId="{7A6D34C1-4DB9-447D-B4F7-F5C6BA2BF79E}" destId="{83BB2BFF-71E8-410C-8638-CAF474781C82}" srcOrd="0" destOrd="0" presId="urn:microsoft.com/office/officeart/2018/2/layout/IconVerticalSolidList"/>
    <dgm:cxn modelId="{46E0482E-F05B-4250-BD09-0FC5648EC161}" type="presParOf" srcId="{7A6D34C1-4DB9-447D-B4F7-F5C6BA2BF79E}" destId="{2C3B65BD-A1DB-42F4-8460-FCF1C33071D0}" srcOrd="1" destOrd="0" presId="urn:microsoft.com/office/officeart/2018/2/layout/IconVerticalSolidList"/>
    <dgm:cxn modelId="{E65F296B-1B46-4292-848B-781E36E5F497}" type="presParOf" srcId="{7A6D34C1-4DB9-447D-B4F7-F5C6BA2BF79E}" destId="{D239055F-A22A-4CB9-9C9E-19B6619B4154}" srcOrd="2" destOrd="0" presId="urn:microsoft.com/office/officeart/2018/2/layout/IconVerticalSolidList"/>
    <dgm:cxn modelId="{82491795-795D-43C0-B0AB-0551DB741B21}" type="presParOf" srcId="{7A6D34C1-4DB9-447D-B4F7-F5C6BA2BF79E}" destId="{69B1334F-ED48-4761-A916-6E1448F93C4C}" srcOrd="3" destOrd="0" presId="urn:microsoft.com/office/officeart/2018/2/layout/IconVerticalSolidList"/>
    <dgm:cxn modelId="{B551EC84-4583-49B9-A89E-9570E83B2029}" type="presParOf" srcId="{DEA8DB0B-D909-47DA-9C0D-23AE27812489}" destId="{82A05A92-5815-43BB-B375-5DBACA307A1C}" srcOrd="3" destOrd="0" presId="urn:microsoft.com/office/officeart/2018/2/layout/IconVerticalSolidList"/>
    <dgm:cxn modelId="{0244F2E2-1922-4769-A96C-F70FAD1F320A}" type="presParOf" srcId="{DEA8DB0B-D909-47DA-9C0D-23AE27812489}" destId="{023BE51A-03C3-4B63-BABB-A009CDD2EECB}" srcOrd="4" destOrd="0" presId="urn:microsoft.com/office/officeart/2018/2/layout/IconVerticalSolidList"/>
    <dgm:cxn modelId="{F12ADBCC-D26C-4F3A-8A91-6D8B871FE157}" type="presParOf" srcId="{023BE51A-03C3-4B63-BABB-A009CDD2EECB}" destId="{A83609AC-7D71-4417-BDEC-98D672A4455D}" srcOrd="0" destOrd="0" presId="urn:microsoft.com/office/officeart/2018/2/layout/IconVerticalSolidList"/>
    <dgm:cxn modelId="{885C3AC3-1DC4-4F65-BC97-8820017A9A83}" type="presParOf" srcId="{023BE51A-03C3-4B63-BABB-A009CDD2EECB}" destId="{F5B92AE2-02FD-4D6A-B618-3F462F119C6D}" srcOrd="1" destOrd="0" presId="urn:microsoft.com/office/officeart/2018/2/layout/IconVerticalSolidList"/>
    <dgm:cxn modelId="{BF637D82-3F2C-43A8-8790-B1E66889F8AF}" type="presParOf" srcId="{023BE51A-03C3-4B63-BABB-A009CDD2EECB}" destId="{A5E6220E-7400-48AC-9F71-7D76A9DE0D30}" srcOrd="2" destOrd="0" presId="urn:microsoft.com/office/officeart/2018/2/layout/IconVerticalSolidList"/>
    <dgm:cxn modelId="{387AE9FB-C626-4CCB-A8A3-4075268DEE8F}" type="presParOf" srcId="{023BE51A-03C3-4B63-BABB-A009CDD2EECB}" destId="{8300103A-3172-4597-A217-3A93497C2020}" srcOrd="3" destOrd="0" presId="urn:microsoft.com/office/officeart/2018/2/layout/IconVerticalSolidList"/>
    <dgm:cxn modelId="{C723B45A-A011-4F35-A5E5-777413CCCA4B}" type="presParOf" srcId="{DEA8DB0B-D909-47DA-9C0D-23AE27812489}" destId="{88280951-A892-4F7F-B3E7-6B92E20A7C1E}" srcOrd="5" destOrd="0" presId="urn:microsoft.com/office/officeart/2018/2/layout/IconVerticalSolidList"/>
    <dgm:cxn modelId="{CB68326A-DF57-4F26-8152-241D7FC14C37}" type="presParOf" srcId="{DEA8DB0B-D909-47DA-9C0D-23AE27812489}" destId="{C5347179-83D6-4186-A677-B51EAC07796A}" srcOrd="6" destOrd="0" presId="urn:microsoft.com/office/officeart/2018/2/layout/IconVerticalSolidList"/>
    <dgm:cxn modelId="{1981589A-9512-4323-BE3D-9185B2453456}" type="presParOf" srcId="{C5347179-83D6-4186-A677-B51EAC07796A}" destId="{53E00D73-A918-42E6-AE6F-A11BB0CD8662}" srcOrd="0" destOrd="0" presId="urn:microsoft.com/office/officeart/2018/2/layout/IconVerticalSolidList"/>
    <dgm:cxn modelId="{63CB8E63-1D86-4D54-B599-C20E610EF088}" type="presParOf" srcId="{C5347179-83D6-4186-A677-B51EAC07796A}" destId="{68765801-FE62-464A-822C-FE06336C07BE}" srcOrd="1" destOrd="0" presId="urn:microsoft.com/office/officeart/2018/2/layout/IconVerticalSolidList"/>
    <dgm:cxn modelId="{18785EAA-7D18-4F2C-A7A5-F33574A43724}" type="presParOf" srcId="{C5347179-83D6-4186-A677-B51EAC07796A}" destId="{24D83204-D3C4-442B-8BCC-CF93306D24A7}" srcOrd="2" destOrd="0" presId="urn:microsoft.com/office/officeart/2018/2/layout/IconVerticalSolidList"/>
    <dgm:cxn modelId="{B54F9EA2-A5FE-4347-9127-3D5608C8A282}" type="presParOf" srcId="{C5347179-83D6-4186-A677-B51EAC07796A}" destId="{EE4BC498-3F58-4B0E-8C93-DA555EB5D4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73A911-73E2-4718-AFB3-C6118FE4630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4B14EEC-2E75-44FD-B976-F6209F7249C0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Personnel Management emphasized administrative tasks such as payroll and record keeping.</a:t>
          </a:r>
        </a:p>
      </dgm:t>
    </dgm:pt>
    <dgm:pt modelId="{45D6B8B3-24F6-419B-8FD9-6FD266D1850E}" type="parTrans" cxnId="{1FFC36E0-6A78-4572-ACF5-5597E28ABBD8}">
      <dgm:prSet/>
      <dgm:spPr/>
      <dgm:t>
        <a:bodyPr/>
        <a:lstStyle/>
        <a:p>
          <a:endParaRPr lang="en-US"/>
        </a:p>
      </dgm:t>
    </dgm:pt>
    <dgm:pt modelId="{870AF12F-C7F8-4FC9-AF78-6061AF746BB9}" type="sibTrans" cxnId="{1FFC36E0-6A78-4572-ACF5-5597E28ABBD8}">
      <dgm:prSet/>
      <dgm:spPr/>
      <dgm:t>
        <a:bodyPr/>
        <a:lstStyle/>
        <a:p>
          <a:endParaRPr lang="en-US"/>
        </a:p>
      </dgm:t>
    </dgm:pt>
    <dgm:pt modelId="{485CF3E5-CD20-497A-8B79-DE11CA2D11E8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The Human Relations approach highlighted employee motivation, morale, and social needs.</a:t>
          </a:r>
        </a:p>
      </dgm:t>
    </dgm:pt>
    <dgm:pt modelId="{30C03365-A67A-4B13-8861-311D137CF062}" type="parTrans" cxnId="{4FE70205-3D18-44AD-A588-1ABCE8ECDA96}">
      <dgm:prSet/>
      <dgm:spPr/>
      <dgm:t>
        <a:bodyPr/>
        <a:lstStyle/>
        <a:p>
          <a:endParaRPr lang="en-US"/>
        </a:p>
      </dgm:t>
    </dgm:pt>
    <dgm:pt modelId="{EDBA5E7E-68FF-4F96-A242-45F5CB2C5A78}" type="sibTrans" cxnId="{4FE70205-3D18-44AD-A588-1ABCE8ECDA96}">
      <dgm:prSet/>
      <dgm:spPr/>
      <dgm:t>
        <a:bodyPr/>
        <a:lstStyle/>
        <a:p>
          <a:endParaRPr lang="en-US"/>
        </a:p>
      </dgm:t>
    </dgm:pt>
    <dgm:pt modelId="{53FD3FBC-7ED2-4239-8887-FDCEF3E8169D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Human Resource Management introduced systematic training and performance management</a:t>
          </a:r>
          <a:r>
            <a:rPr lang="en-US" sz="1200" dirty="0"/>
            <a:t>.</a:t>
          </a:r>
        </a:p>
      </dgm:t>
    </dgm:pt>
    <dgm:pt modelId="{C9479AB8-8039-47F8-8433-26FEA25A573F}" type="parTrans" cxnId="{445329FE-2A1C-44E1-ABD4-B57FEF347CC7}">
      <dgm:prSet/>
      <dgm:spPr/>
      <dgm:t>
        <a:bodyPr/>
        <a:lstStyle/>
        <a:p>
          <a:endParaRPr lang="en-US"/>
        </a:p>
      </dgm:t>
    </dgm:pt>
    <dgm:pt modelId="{62C81377-EFA5-49EA-B6FE-6744A4B85BF3}" type="sibTrans" cxnId="{445329FE-2A1C-44E1-ABD4-B57FEF347CC7}">
      <dgm:prSet/>
      <dgm:spPr/>
      <dgm:t>
        <a:bodyPr/>
        <a:lstStyle/>
        <a:p>
          <a:endParaRPr lang="en-US"/>
        </a:p>
      </dgm:t>
    </dgm:pt>
    <dgm:pt modelId="{6AF7050D-4859-4541-8EC7-1A5088829D66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Strategic HRM integrates HR policies with organizational strategy and long-term goals</a:t>
          </a:r>
          <a:r>
            <a:rPr lang="en-US" sz="1200" b="1" dirty="0"/>
            <a:t>.</a:t>
          </a:r>
        </a:p>
      </dgm:t>
    </dgm:pt>
    <dgm:pt modelId="{AA206727-5412-4838-A912-02190D91AD94}" type="parTrans" cxnId="{845430EE-5A7C-484E-B0FC-255C981C575B}">
      <dgm:prSet/>
      <dgm:spPr/>
      <dgm:t>
        <a:bodyPr/>
        <a:lstStyle/>
        <a:p>
          <a:endParaRPr lang="en-US"/>
        </a:p>
      </dgm:t>
    </dgm:pt>
    <dgm:pt modelId="{017FD151-5892-4A05-AA06-FD29A44FDF79}" type="sibTrans" cxnId="{845430EE-5A7C-484E-B0FC-255C981C575B}">
      <dgm:prSet/>
      <dgm:spPr/>
      <dgm:t>
        <a:bodyPr/>
        <a:lstStyle/>
        <a:p>
          <a:endParaRPr lang="en-US"/>
        </a:p>
      </dgm:t>
    </dgm:pt>
    <dgm:pt modelId="{9107874C-865B-49E1-91A6-B9066E6CFDE5}" type="pres">
      <dgm:prSet presAssocID="{D973A911-73E2-4718-AFB3-C6118FE4630B}" presName="root" presStyleCnt="0">
        <dgm:presLayoutVars>
          <dgm:dir/>
          <dgm:resizeHandles val="exact"/>
        </dgm:presLayoutVars>
      </dgm:prSet>
      <dgm:spPr/>
    </dgm:pt>
    <dgm:pt modelId="{9CB51736-07EB-482E-B555-B3D0E035D667}" type="pres">
      <dgm:prSet presAssocID="{64B14EEC-2E75-44FD-B976-F6209F7249C0}" presName="compNode" presStyleCnt="0"/>
      <dgm:spPr/>
    </dgm:pt>
    <dgm:pt modelId="{99898862-1B19-46B8-B18E-39D42762A6DF}" type="pres">
      <dgm:prSet presAssocID="{64B14EEC-2E75-44FD-B976-F6209F7249C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E1B0519-8326-4D9D-B519-23FAB24E1EC8}" type="pres">
      <dgm:prSet presAssocID="{64B14EEC-2E75-44FD-B976-F6209F7249C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EA076E72-AE5D-4707-A587-13DED812136A}" type="pres">
      <dgm:prSet presAssocID="{64B14EEC-2E75-44FD-B976-F6209F7249C0}" presName="spaceRect" presStyleCnt="0"/>
      <dgm:spPr/>
    </dgm:pt>
    <dgm:pt modelId="{14047C7B-FBB6-4EEE-AEAA-4F7F34F26BA0}" type="pres">
      <dgm:prSet presAssocID="{64B14EEC-2E75-44FD-B976-F6209F7249C0}" presName="textRect" presStyleLbl="revTx" presStyleIdx="0" presStyleCnt="4">
        <dgm:presLayoutVars>
          <dgm:chMax val="1"/>
          <dgm:chPref val="1"/>
        </dgm:presLayoutVars>
      </dgm:prSet>
      <dgm:spPr/>
    </dgm:pt>
    <dgm:pt modelId="{08B8C00E-9BDD-4031-9DC5-911AE8C6D956}" type="pres">
      <dgm:prSet presAssocID="{870AF12F-C7F8-4FC9-AF78-6061AF746BB9}" presName="sibTrans" presStyleCnt="0"/>
      <dgm:spPr/>
    </dgm:pt>
    <dgm:pt modelId="{DA30798F-382A-4E1F-90D9-968439B16022}" type="pres">
      <dgm:prSet presAssocID="{485CF3E5-CD20-497A-8B79-DE11CA2D11E8}" presName="compNode" presStyleCnt="0"/>
      <dgm:spPr/>
    </dgm:pt>
    <dgm:pt modelId="{1B00C260-392E-4143-84CB-613268D6A32A}" type="pres">
      <dgm:prSet presAssocID="{485CF3E5-CD20-497A-8B79-DE11CA2D11E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06CA72A-88CC-43D0-BA0E-305029AE931F}" type="pres">
      <dgm:prSet presAssocID="{485CF3E5-CD20-497A-8B79-DE11CA2D11E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A76B6DBA-C9E3-46A5-924C-BCA8F3454341}" type="pres">
      <dgm:prSet presAssocID="{485CF3E5-CD20-497A-8B79-DE11CA2D11E8}" presName="spaceRect" presStyleCnt="0"/>
      <dgm:spPr/>
    </dgm:pt>
    <dgm:pt modelId="{D8F3A3BD-0021-4926-BF87-BDA31747C313}" type="pres">
      <dgm:prSet presAssocID="{485CF3E5-CD20-497A-8B79-DE11CA2D11E8}" presName="textRect" presStyleLbl="revTx" presStyleIdx="1" presStyleCnt="4">
        <dgm:presLayoutVars>
          <dgm:chMax val="1"/>
          <dgm:chPref val="1"/>
        </dgm:presLayoutVars>
      </dgm:prSet>
      <dgm:spPr/>
    </dgm:pt>
    <dgm:pt modelId="{6EA541B1-A1C8-4A4A-A07B-9212A2EAF934}" type="pres">
      <dgm:prSet presAssocID="{EDBA5E7E-68FF-4F96-A242-45F5CB2C5A78}" presName="sibTrans" presStyleCnt="0"/>
      <dgm:spPr/>
    </dgm:pt>
    <dgm:pt modelId="{A2BA356C-F359-4880-B6CA-765855F5D6A7}" type="pres">
      <dgm:prSet presAssocID="{53FD3FBC-7ED2-4239-8887-FDCEF3E8169D}" presName="compNode" presStyleCnt="0"/>
      <dgm:spPr/>
    </dgm:pt>
    <dgm:pt modelId="{20ECFDD9-8E3C-46BB-A10C-22785899C87A}" type="pres">
      <dgm:prSet presAssocID="{53FD3FBC-7ED2-4239-8887-FDCEF3E8169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FECF187-76D2-454A-80E1-120714E9C096}" type="pres">
      <dgm:prSet presAssocID="{53FD3FBC-7ED2-4239-8887-FDCEF3E8169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D288ACE-4654-4B7E-88A8-DBF96223BEA6}" type="pres">
      <dgm:prSet presAssocID="{53FD3FBC-7ED2-4239-8887-FDCEF3E8169D}" presName="spaceRect" presStyleCnt="0"/>
      <dgm:spPr/>
    </dgm:pt>
    <dgm:pt modelId="{CC1A1643-EDC2-4383-BEBC-A6131307CFBF}" type="pres">
      <dgm:prSet presAssocID="{53FD3FBC-7ED2-4239-8887-FDCEF3E8169D}" presName="textRect" presStyleLbl="revTx" presStyleIdx="2" presStyleCnt="4">
        <dgm:presLayoutVars>
          <dgm:chMax val="1"/>
          <dgm:chPref val="1"/>
        </dgm:presLayoutVars>
      </dgm:prSet>
      <dgm:spPr/>
    </dgm:pt>
    <dgm:pt modelId="{B0E1DC57-9107-4EEE-8E8D-960AFC1F51E5}" type="pres">
      <dgm:prSet presAssocID="{62C81377-EFA5-49EA-B6FE-6744A4B85BF3}" presName="sibTrans" presStyleCnt="0"/>
      <dgm:spPr/>
    </dgm:pt>
    <dgm:pt modelId="{85684764-E61A-40CC-AA30-B13FBC462692}" type="pres">
      <dgm:prSet presAssocID="{6AF7050D-4859-4541-8EC7-1A5088829D66}" presName="compNode" presStyleCnt="0"/>
      <dgm:spPr/>
    </dgm:pt>
    <dgm:pt modelId="{8A1BBBD5-BEB5-4AF7-9CB1-E75AEA260798}" type="pres">
      <dgm:prSet presAssocID="{6AF7050D-4859-4541-8EC7-1A5088829D6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4E3651A-3F1E-494F-8BB3-17295CF797CE}" type="pres">
      <dgm:prSet presAssocID="{6AF7050D-4859-4541-8EC7-1A5088829D6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A0C27A0-E837-4396-BA6A-21E4DE2ED785}" type="pres">
      <dgm:prSet presAssocID="{6AF7050D-4859-4541-8EC7-1A5088829D66}" presName="spaceRect" presStyleCnt="0"/>
      <dgm:spPr/>
    </dgm:pt>
    <dgm:pt modelId="{83D8383A-0512-49DB-9EFD-63E02B052B95}" type="pres">
      <dgm:prSet presAssocID="{6AF7050D-4859-4541-8EC7-1A5088829D6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C86A02-73B4-49B0-A77E-E86E42CA4369}" type="presOf" srcId="{64B14EEC-2E75-44FD-B976-F6209F7249C0}" destId="{14047C7B-FBB6-4EEE-AEAA-4F7F34F26BA0}" srcOrd="0" destOrd="0" presId="urn:microsoft.com/office/officeart/2018/5/layout/IconLeafLabelList"/>
    <dgm:cxn modelId="{4FE70205-3D18-44AD-A588-1ABCE8ECDA96}" srcId="{D973A911-73E2-4718-AFB3-C6118FE4630B}" destId="{485CF3E5-CD20-497A-8B79-DE11CA2D11E8}" srcOrd="1" destOrd="0" parTransId="{30C03365-A67A-4B13-8861-311D137CF062}" sibTransId="{EDBA5E7E-68FF-4F96-A242-45F5CB2C5A78}"/>
    <dgm:cxn modelId="{453AA226-88E1-4385-8C52-5237C0F04B8B}" type="presOf" srcId="{D973A911-73E2-4718-AFB3-C6118FE4630B}" destId="{9107874C-865B-49E1-91A6-B9066E6CFDE5}" srcOrd="0" destOrd="0" presId="urn:microsoft.com/office/officeart/2018/5/layout/IconLeafLabelList"/>
    <dgm:cxn modelId="{BCC77A41-0CC6-436C-B4CD-7BF3E26A8D98}" type="presOf" srcId="{53FD3FBC-7ED2-4239-8887-FDCEF3E8169D}" destId="{CC1A1643-EDC2-4383-BEBC-A6131307CFBF}" srcOrd="0" destOrd="0" presId="urn:microsoft.com/office/officeart/2018/5/layout/IconLeafLabelList"/>
    <dgm:cxn modelId="{1FFC36E0-6A78-4572-ACF5-5597E28ABBD8}" srcId="{D973A911-73E2-4718-AFB3-C6118FE4630B}" destId="{64B14EEC-2E75-44FD-B976-F6209F7249C0}" srcOrd="0" destOrd="0" parTransId="{45D6B8B3-24F6-419B-8FD9-6FD266D1850E}" sibTransId="{870AF12F-C7F8-4FC9-AF78-6061AF746BB9}"/>
    <dgm:cxn modelId="{2E49F3E3-39BE-4A01-AA5B-5B68B36F3351}" type="presOf" srcId="{485CF3E5-CD20-497A-8B79-DE11CA2D11E8}" destId="{D8F3A3BD-0021-4926-BF87-BDA31747C313}" srcOrd="0" destOrd="0" presId="urn:microsoft.com/office/officeart/2018/5/layout/IconLeafLabelList"/>
    <dgm:cxn modelId="{845430EE-5A7C-484E-B0FC-255C981C575B}" srcId="{D973A911-73E2-4718-AFB3-C6118FE4630B}" destId="{6AF7050D-4859-4541-8EC7-1A5088829D66}" srcOrd="3" destOrd="0" parTransId="{AA206727-5412-4838-A912-02190D91AD94}" sibTransId="{017FD151-5892-4A05-AA06-FD29A44FDF79}"/>
    <dgm:cxn modelId="{9069F7F3-E294-4A30-9870-5C9EC5E9651F}" type="presOf" srcId="{6AF7050D-4859-4541-8EC7-1A5088829D66}" destId="{83D8383A-0512-49DB-9EFD-63E02B052B95}" srcOrd="0" destOrd="0" presId="urn:microsoft.com/office/officeart/2018/5/layout/IconLeafLabelList"/>
    <dgm:cxn modelId="{445329FE-2A1C-44E1-ABD4-B57FEF347CC7}" srcId="{D973A911-73E2-4718-AFB3-C6118FE4630B}" destId="{53FD3FBC-7ED2-4239-8887-FDCEF3E8169D}" srcOrd="2" destOrd="0" parTransId="{C9479AB8-8039-47F8-8433-26FEA25A573F}" sibTransId="{62C81377-EFA5-49EA-B6FE-6744A4B85BF3}"/>
    <dgm:cxn modelId="{596B0307-4944-4F0B-82CB-0C48D1DD5919}" type="presParOf" srcId="{9107874C-865B-49E1-91A6-B9066E6CFDE5}" destId="{9CB51736-07EB-482E-B555-B3D0E035D667}" srcOrd="0" destOrd="0" presId="urn:microsoft.com/office/officeart/2018/5/layout/IconLeafLabelList"/>
    <dgm:cxn modelId="{C0EFAE1F-38C6-4297-88DB-D749E5B204EC}" type="presParOf" srcId="{9CB51736-07EB-482E-B555-B3D0E035D667}" destId="{99898862-1B19-46B8-B18E-39D42762A6DF}" srcOrd="0" destOrd="0" presId="urn:microsoft.com/office/officeart/2018/5/layout/IconLeafLabelList"/>
    <dgm:cxn modelId="{FD1FE724-EB29-4628-8C59-1C1FB443C563}" type="presParOf" srcId="{9CB51736-07EB-482E-B555-B3D0E035D667}" destId="{5E1B0519-8326-4D9D-B519-23FAB24E1EC8}" srcOrd="1" destOrd="0" presId="urn:microsoft.com/office/officeart/2018/5/layout/IconLeafLabelList"/>
    <dgm:cxn modelId="{2A042840-F1B3-4FE4-8562-D24732E692E9}" type="presParOf" srcId="{9CB51736-07EB-482E-B555-B3D0E035D667}" destId="{EA076E72-AE5D-4707-A587-13DED812136A}" srcOrd="2" destOrd="0" presId="urn:microsoft.com/office/officeart/2018/5/layout/IconLeafLabelList"/>
    <dgm:cxn modelId="{8F022E4B-E9DA-47D3-BFA8-294821E36104}" type="presParOf" srcId="{9CB51736-07EB-482E-B555-B3D0E035D667}" destId="{14047C7B-FBB6-4EEE-AEAA-4F7F34F26BA0}" srcOrd="3" destOrd="0" presId="urn:microsoft.com/office/officeart/2018/5/layout/IconLeafLabelList"/>
    <dgm:cxn modelId="{643E82D1-FE98-4689-AEAB-19F508A88ACE}" type="presParOf" srcId="{9107874C-865B-49E1-91A6-B9066E6CFDE5}" destId="{08B8C00E-9BDD-4031-9DC5-911AE8C6D956}" srcOrd="1" destOrd="0" presId="urn:microsoft.com/office/officeart/2018/5/layout/IconLeafLabelList"/>
    <dgm:cxn modelId="{0ACCE986-0058-4981-8CE7-D15A2D4899AB}" type="presParOf" srcId="{9107874C-865B-49E1-91A6-B9066E6CFDE5}" destId="{DA30798F-382A-4E1F-90D9-968439B16022}" srcOrd="2" destOrd="0" presId="urn:microsoft.com/office/officeart/2018/5/layout/IconLeafLabelList"/>
    <dgm:cxn modelId="{15BBBEB3-55D6-4FF0-9FAD-9E3706EE03EC}" type="presParOf" srcId="{DA30798F-382A-4E1F-90D9-968439B16022}" destId="{1B00C260-392E-4143-84CB-613268D6A32A}" srcOrd="0" destOrd="0" presId="urn:microsoft.com/office/officeart/2018/5/layout/IconLeafLabelList"/>
    <dgm:cxn modelId="{EB235355-0FD6-4B7B-85FD-C2659E3F5010}" type="presParOf" srcId="{DA30798F-382A-4E1F-90D9-968439B16022}" destId="{406CA72A-88CC-43D0-BA0E-305029AE931F}" srcOrd="1" destOrd="0" presId="urn:microsoft.com/office/officeart/2018/5/layout/IconLeafLabelList"/>
    <dgm:cxn modelId="{BB98D765-E53F-4E3B-92EF-CA4A85465CEF}" type="presParOf" srcId="{DA30798F-382A-4E1F-90D9-968439B16022}" destId="{A76B6DBA-C9E3-46A5-924C-BCA8F3454341}" srcOrd="2" destOrd="0" presId="urn:microsoft.com/office/officeart/2018/5/layout/IconLeafLabelList"/>
    <dgm:cxn modelId="{7955C9FE-8375-4A4C-8560-82C75C38493D}" type="presParOf" srcId="{DA30798F-382A-4E1F-90D9-968439B16022}" destId="{D8F3A3BD-0021-4926-BF87-BDA31747C313}" srcOrd="3" destOrd="0" presId="urn:microsoft.com/office/officeart/2018/5/layout/IconLeafLabelList"/>
    <dgm:cxn modelId="{3B1E5218-7EA3-407C-8351-9DDA839A177B}" type="presParOf" srcId="{9107874C-865B-49E1-91A6-B9066E6CFDE5}" destId="{6EA541B1-A1C8-4A4A-A07B-9212A2EAF934}" srcOrd="3" destOrd="0" presId="urn:microsoft.com/office/officeart/2018/5/layout/IconLeafLabelList"/>
    <dgm:cxn modelId="{B0C34AC9-418A-4BED-BB13-5AE631E21E2E}" type="presParOf" srcId="{9107874C-865B-49E1-91A6-B9066E6CFDE5}" destId="{A2BA356C-F359-4880-B6CA-765855F5D6A7}" srcOrd="4" destOrd="0" presId="urn:microsoft.com/office/officeart/2018/5/layout/IconLeafLabelList"/>
    <dgm:cxn modelId="{4284C784-0C97-4FBD-9F4D-C016AB06304C}" type="presParOf" srcId="{A2BA356C-F359-4880-B6CA-765855F5D6A7}" destId="{20ECFDD9-8E3C-46BB-A10C-22785899C87A}" srcOrd="0" destOrd="0" presId="urn:microsoft.com/office/officeart/2018/5/layout/IconLeafLabelList"/>
    <dgm:cxn modelId="{2CC39DCB-4F3A-49F9-902C-994B066C90B4}" type="presParOf" srcId="{A2BA356C-F359-4880-B6CA-765855F5D6A7}" destId="{8FECF187-76D2-454A-80E1-120714E9C096}" srcOrd="1" destOrd="0" presId="urn:microsoft.com/office/officeart/2018/5/layout/IconLeafLabelList"/>
    <dgm:cxn modelId="{E1392684-DA1E-4D2D-ACA3-D15BE4CB1A87}" type="presParOf" srcId="{A2BA356C-F359-4880-B6CA-765855F5D6A7}" destId="{BD288ACE-4654-4B7E-88A8-DBF96223BEA6}" srcOrd="2" destOrd="0" presId="urn:microsoft.com/office/officeart/2018/5/layout/IconLeafLabelList"/>
    <dgm:cxn modelId="{69F21902-D8ED-48D8-A7B3-61DE954A2438}" type="presParOf" srcId="{A2BA356C-F359-4880-B6CA-765855F5D6A7}" destId="{CC1A1643-EDC2-4383-BEBC-A6131307CFBF}" srcOrd="3" destOrd="0" presId="urn:microsoft.com/office/officeart/2018/5/layout/IconLeafLabelList"/>
    <dgm:cxn modelId="{D6E6432C-0E11-437B-BDA9-DC7A0F61943A}" type="presParOf" srcId="{9107874C-865B-49E1-91A6-B9066E6CFDE5}" destId="{B0E1DC57-9107-4EEE-8E8D-960AFC1F51E5}" srcOrd="5" destOrd="0" presId="urn:microsoft.com/office/officeart/2018/5/layout/IconLeafLabelList"/>
    <dgm:cxn modelId="{6E5913B8-9914-4D32-BA01-50963116DF68}" type="presParOf" srcId="{9107874C-865B-49E1-91A6-B9066E6CFDE5}" destId="{85684764-E61A-40CC-AA30-B13FBC462692}" srcOrd="6" destOrd="0" presId="urn:microsoft.com/office/officeart/2018/5/layout/IconLeafLabelList"/>
    <dgm:cxn modelId="{6B1E2F36-2778-4649-B46E-7450A958099B}" type="presParOf" srcId="{85684764-E61A-40CC-AA30-B13FBC462692}" destId="{8A1BBBD5-BEB5-4AF7-9CB1-E75AEA260798}" srcOrd="0" destOrd="0" presId="urn:microsoft.com/office/officeart/2018/5/layout/IconLeafLabelList"/>
    <dgm:cxn modelId="{7C6F2063-9910-455A-A98A-0DD575CE3B0D}" type="presParOf" srcId="{85684764-E61A-40CC-AA30-B13FBC462692}" destId="{A4E3651A-3F1E-494F-8BB3-17295CF797CE}" srcOrd="1" destOrd="0" presId="urn:microsoft.com/office/officeart/2018/5/layout/IconLeafLabelList"/>
    <dgm:cxn modelId="{3613FDAF-DEDA-4764-9A09-30CE52ECC632}" type="presParOf" srcId="{85684764-E61A-40CC-AA30-B13FBC462692}" destId="{BA0C27A0-E837-4396-BA6A-21E4DE2ED785}" srcOrd="2" destOrd="0" presId="urn:microsoft.com/office/officeart/2018/5/layout/IconLeafLabelList"/>
    <dgm:cxn modelId="{B3F73DAF-84E3-494D-B627-46517CFBA8EF}" type="presParOf" srcId="{85684764-E61A-40CC-AA30-B13FBC462692}" destId="{83D8383A-0512-49DB-9EFD-63E02B052B9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27C011-487D-447B-B0D7-EE2356AC117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980BBC-16AB-467C-AC3C-F26A7E1D2BD9}">
      <dgm:prSet/>
      <dgm:spPr/>
      <dgm:t>
        <a:bodyPr/>
        <a:lstStyle/>
        <a:p>
          <a:r>
            <a:rPr lang="en-US"/>
            <a:t>Then: Personnel records, compliance, and routine administration.</a:t>
          </a:r>
        </a:p>
      </dgm:t>
    </dgm:pt>
    <dgm:pt modelId="{D7A9BC8B-8516-42A0-A066-3745697FAD5B}" type="parTrans" cxnId="{10682F62-4947-483E-A968-CE46022F5523}">
      <dgm:prSet/>
      <dgm:spPr/>
      <dgm:t>
        <a:bodyPr/>
        <a:lstStyle/>
        <a:p>
          <a:endParaRPr lang="en-US"/>
        </a:p>
      </dgm:t>
    </dgm:pt>
    <dgm:pt modelId="{9D17253A-153C-48AB-9736-4BBC7895C3DB}" type="sibTrans" cxnId="{10682F62-4947-483E-A968-CE46022F5523}">
      <dgm:prSet/>
      <dgm:spPr/>
      <dgm:t>
        <a:bodyPr/>
        <a:lstStyle/>
        <a:p>
          <a:endParaRPr lang="en-US"/>
        </a:p>
      </dgm:t>
    </dgm:pt>
    <dgm:pt modelId="{10FCF2C7-0B69-40AB-9EBD-F0BDE5BC8775}">
      <dgm:prSet/>
      <dgm:spPr/>
      <dgm:t>
        <a:bodyPr/>
        <a:lstStyle/>
        <a:p>
          <a:r>
            <a:rPr lang="en-US"/>
            <a:t>Now: Talent strategy, analytics, culture, and employee experience.</a:t>
          </a:r>
        </a:p>
      </dgm:t>
    </dgm:pt>
    <dgm:pt modelId="{47CE3950-4FB7-47A2-8C5D-CB1BE187C15C}" type="parTrans" cxnId="{2B9DE4DF-1FAE-4D47-A294-54BF22CB8DA7}">
      <dgm:prSet/>
      <dgm:spPr/>
      <dgm:t>
        <a:bodyPr/>
        <a:lstStyle/>
        <a:p>
          <a:endParaRPr lang="en-US"/>
        </a:p>
      </dgm:t>
    </dgm:pt>
    <dgm:pt modelId="{ABEC7F91-E619-4239-875D-C491A11DD143}" type="sibTrans" cxnId="{2B9DE4DF-1FAE-4D47-A294-54BF22CB8DA7}">
      <dgm:prSet/>
      <dgm:spPr/>
      <dgm:t>
        <a:bodyPr/>
        <a:lstStyle/>
        <a:p>
          <a:endParaRPr lang="en-US"/>
        </a:p>
      </dgm:t>
    </dgm:pt>
    <dgm:pt modelId="{C45176A2-9C3E-4B52-BB91-C0875C8512B9}">
      <dgm:prSet/>
      <dgm:spPr/>
      <dgm:t>
        <a:bodyPr/>
        <a:lstStyle/>
        <a:p>
          <a:r>
            <a:rPr lang="en-US"/>
            <a:t>Shift driven by globalization, technology, and post-COVID realities.</a:t>
          </a:r>
        </a:p>
      </dgm:t>
    </dgm:pt>
    <dgm:pt modelId="{0CC5D9E6-C974-41BC-8C42-ACF7D7573715}" type="parTrans" cxnId="{32EF5A40-CE5A-4885-BB55-99DC98B64F89}">
      <dgm:prSet/>
      <dgm:spPr/>
      <dgm:t>
        <a:bodyPr/>
        <a:lstStyle/>
        <a:p>
          <a:endParaRPr lang="en-US"/>
        </a:p>
      </dgm:t>
    </dgm:pt>
    <dgm:pt modelId="{073628E1-0F7A-4051-B514-24CEAE48D37B}" type="sibTrans" cxnId="{32EF5A40-CE5A-4885-BB55-99DC98B64F89}">
      <dgm:prSet/>
      <dgm:spPr/>
      <dgm:t>
        <a:bodyPr/>
        <a:lstStyle/>
        <a:p>
          <a:endParaRPr lang="en-US"/>
        </a:p>
      </dgm:t>
    </dgm:pt>
    <dgm:pt modelId="{4299F2FF-6818-204B-8A7A-15E4A4AF5723}" type="pres">
      <dgm:prSet presAssocID="{D527C011-487D-447B-B0D7-EE2356AC1179}" presName="linear" presStyleCnt="0">
        <dgm:presLayoutVars>
          <dgm:animLvl val="lvl"/>
          <dgm:resizeHandles val="exact"/>
        </dgm:presLayoutVars>
      </dgm:prSet>
      <dgm:spPr/>
    </dgm:pt>
    <dgm:pt modelId="{8E9F3D05-6446-2846-8666-C0CD391011F1}" type="pres">
      <dgm:prSet presAssocID="{7E980BBC-16AB-467C-AC3C-F26A7E1D2B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29F0D5A-A0EF-254C-94D5-2602C5F68EC0}" type="pres">
      <dgm:prSet presAssocID="{9D17253A-153C-48AB-9736-4BBC7895C3DB}" presName="spacer" presStyleCnt="0"/>
      <dgm:spPr/>
    </dgm:pt>
    <dgm:pt modelId="{670331C9-623E-B44B-A4D8-A971117E5B73}" type="pres">
      <dgm:prSet presAssocID="{10FCF2C7-0B69-40AB-9EBD-F0BDE5BC87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7941B60-A7C6-DB4C-A1D4-A646F023051E}" type="pres">
      <dgm:prSet presAssocID="{ABEC7F91-E619-4239-875D-C491A11DD143}" presName="spacer" presStyleCnt="0"/>
      <dgm:spPr/>
    </dgm:pt>
    <dgm:pt modelId="{8768CA48-1DD8-1544-B186-47F58D8E9F72}" type="pres">
      <dgm:prSet presAssocID="{C45176A2-9C3E-4B52-BB91-C0875C8512B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AA07422-B82C-064A-A6AA-9F8A29CD273F}" type="presOf" srcId="{7E980BBC-16AB-467C-AC3C-F26A7E1D2BD9}" destId="{8E9F3D05-6446-2846-8666-C0CD391011F1}" srcOrd="0" destOrd="0" presId="urn:microsoft.com/office/officeart/2005/8/layout/vList2"/>
    <dgm:cxn modelId="{32EF5A40-CE5A-4885-BB55-99DC98B64F89}" srcId="{D527C011-487D-447B-B0D7-EE2356AC1179}" destId="{C45176A2-9C3E-4B52-BB91-C0875C8512B9}" srcOrd="2" destOrd="0" parTransId="{0CC5D9E6-C974-41BC-8C42-ACF7D7573715}" sibTransId="{073628E1-0F7A-4051-B514-24CEAE48D37B}"/>
    <dgm:cxn modelId="{10682F62-4947-483E-A968-CE46022F5523}" srcId="{D527C011-487D-447B-B0D7-EE2356AC1179}" destId="{7E980BBC-16AB-467C-AC3C-F26A7E1D2BD9}" srcOrd="0" destOrd="0" parTransId="{D7A9BC8B-8516-42A0-A066-3745697FAD5B}" sibTransId="{9D17253A-153C-48AB-9736-4BBC7895C3DB}"/>
    <dgm:cxn modelId="{704D69BC-452F-C349-8211-CA67BE20CFE5}" type="presOf" srcId="{C45176A2-9C3E-4B52-BB91-C0875C8512B9}" destId="{8768CA48-1DD8-1544-B186-47F58D8E9F72}" srcOrd="0" destOrd="0" presId="urn:microsoft.com/office/officeart/2005/8/layout/vList2"/>
    <dgm:cxn modelId="{4D4F7ED3-4010-3141-B5A8-992ED3A4C329}" type="presOf" srcId="{D527C011-487D-447B-B0D7-EE2356AC1179}" destId="{4299F2FF-6818-204B-8A7A-15E4A4AF5723}" srcOrd="0" destOrd="0" presId="urn:microsoft.com/office/officeart/2005/8/layout/vList2"/>
    <dgm:cxn modelId="{2B9DE4DF-1FAE-4D47-A294-54BF22CB8DA7}" srcId="{D527C011-487D-447B-B0D7-EE2356AC1179}" destId="{10FCF2C7-0B69-40AB-9EBD-F0BDE5BC8775}" srcOrd="1" destOrd="0" parTransId="{47CE3950-4FB7-47A2-8C5D-CB1BE187C15C}" sibTransId="{ABEC7F91-E619-4239-875D-C491A11DD143}"/>
    <dgm:cxn modelId="{5A6C48FC-E884-4144-B866-9FD00CED7587}" type="presOf" srcId="{10FCF2C7-0B69-40AB-9EBD-F0BDE5BC8775}" destId="{670331C9-623E-B44B-A4D8-A971117E5B73}" srcOrd="0" destOrd="0" presId="urn:microsoft.com/office/officeart/2005/8/layout/vList2"/>
    <dgm:cxn modelId="{D28ED9D1-E981-284F-97D9-A05DF50D8C72}" type="presParOf" srcId="{4299F2FF-6818-204B-8A7A-15E4A4AF5723}" destId="{8E9F3D05-6446-2846-8666-C0CD391011F1}" srcOrd="0" destOrd="0" presId="urn:microsoft.com/office/officeart/2005/8/layout/vList2"/>
    <dgm:cxn modelId="{CBDA0152-47FB-2148-AFD4-ECB7579DD2A9}" type="presParOf" srcId="{4299F2FF-6818-204B-8A7A-15E4A4AF5723}" destId="{429F0D5A-A0EF-254C-94D5-2602C5F68EC0}" srcOrd="1" destOrd="0" presId="urn:microsoft.com/office/officeart/2005/8/layout/vList2"/>
    <dgm:cxn modelId="{97818795-354A-B64B-8050-762800B942FC}" type="presParOf" srcId="{4299F2FF-6818-204B-8A7A-15E4A4AF5723}" destId="{670331C9-623E-B44B-A4D8-A971117E5B73}" srcOrd="2" destOrd="0" presId="urn:microsoft.com/office/officeart/2005/8/layout/vList2"/>
    <dgm:cxn modelId="{D046FE67-A218-2242-A1CD-10999559CA51}" type="presParOf" srcId="{4299F2FF-6818-204B-8A7A-15E4A4AF5723}" destId="{A7941B60-A7C6-DB4C-A1D4-A646F023051E}" srcOrd="3" destOrd="0" presId="urn:microsoft.com/office/officeart/2005/8/layout/vList2"/>
    <dgm:cxn modelId="{E159C543-4DA2-704B-A813-498898567A01}" type="presParOf" srcId="{4299F2FF-6818-204B-8A7A-15E4A4AF5723}" destId="{8768CA48-1DD8-1544-B186-47F58D8E9F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5DF6E-CB01-5C4C-A413-9DD793162D37}">
      <dsp:nvSpPr>
        <dsp:cNvPr id="0" name=""/>
        <dsp:cNvSpPr/>
      </dsp:nvSpPr>
      <dsp:spPr>
        <a:xfrm>
          <a:off x="813" y="664457"/>
          <a:ext cx="3173080" cy="190384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CLO-1 focuses on understanding the foundations, scope, and strategic importance of HRM.</a:t>
          </a:r>
        </a:p>
      </dsp:txBody>
      <dsp:txXfrm>
        <a:off x="813" y="664457"/>
        <a:ext cx="3173080" cy="1903848"/>
      </dsp:txXfrm>
    </dsp:sp>
    <dsp:sp modelId="{3CC5558A-596A-1F42-A989-0EC62D98FD35}">
      <dsp:nvSpPr>
        <dsp:cNvPr id="0" name=""/>
        <dsp:cNvSpPr/>
      </dsp:nvSpPr>
      <dsp:spPr>
        <a:xfrm>
          <a:off x="3491202" y="664457"/>
          <a:ext cx="3173080" cy="1903848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Bloom’s Taxonomy Level: C2 – Understanding, emphasizing conceptual clarity.</a:t>
          </a:r>
        </a:p>
      </dsp:txBody>
      <dsp:txXfrm>
        <a:off x="3491202" y="664457"/>
        <a:ext cx="3173080" cy="1903848"/>
      </dsp:txXfrm>
    </dsp:sp>
    <dsp:sp modelId="{1FD7184D-41C0-5A44-A79B-26B9B0EF7146}">
      <dsp:nvSpPr>
        <dsp:cNvPr id="0" name=""/>
        <dsp:cNvSpPr/>
      </dsp:nvSpPr>
      <dsp:spPr>
        <a:xfrm>
          <a:off x="813" y="2885614"/>
          <a:ext cx="3173080" cy="1903848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Mapped to PLO-1 (Core Business Knowledge) for BBA graduates.</a:t>
          </a:r>
        </a:p>
      </dsp:txBody>
      <dsp:txXfrm>
        <a:off x="813" y="2885614"/>
        <a:ext cx="3173080" cy="1903848"/>
      </dsp:txXfrm>
    </dsp:sp>
    <dsp:sp modelId="{177AF87D-A1A3-C949-A6E1-5CA9F203A7C3}">
      <dsp:nvSpPr>
        <dsp:cNvPr id="0" name=""/>
        <dsp:cNvSpPr/>
      </dsp:nvSpPr>
      <dsp:spPr>
        <a:xfrm>
          <a:off x="3491202" y="2885614"/>
          <a:ext cx="3173080" cy="1903848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Chapter 1 develops essential HR vocabulary and strategic perspective.</a:t>
          </a:r>
        </a:p>
      </dsp:txBody>
      <dsp:txXfrm>
        <a:off x="3491202" y="2885614"/>
        <a:ext cx="3173080" cy="1903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A2D63-F425-4745-9909-8E30E6A3375E}">
      <dsp:nvSpPr>
        <dsp:cNvPr id="0" name=""/>
        <dsp:cNvSpPr/>
      </dsp:nvSpPr>
      <dsp:spPr>
        <a:xfrm>
          <a:off x="0" y="1808"/>
          <a:ext cx="10512862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EAB2D-C95C-496B-A1EB-980E026C9753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567C4-2FFB-4580-B01C-04DA7F301CDD}">
      <dsp:nvSpPr>
        <dsp:cNvPr id="0" name=""/>
        <dsp:cNvSpPr/>
      </dsp:nvSpPr>
      <dsp:spPr>
        <a:xfrm>
          <a:off x="1058686" y="1808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Human Resource Management (HRM) is the managerial process of effectively utilizing people at work.</a:t>
          </a:r>
        </a:p>
      </dsp:txBody>
      <dsp:txXfrm>
        <a:off x="1058686" y="1808"/>
        <a:ext cx="9454175" cy="916611"/>
      </dsp:txXfrm>
    </dsp:sp>
    <dsp:sp modelId="{83BB2BFF-71E8-410C-8638-CAF474781C82}">
      <dsp:nvSpPr>
        <dsp:cNvPr id="0" name=""/>
        <dsp:cNvSpPr/>
      </dsp:nvSpPr>
      <dsp:spPr>
        <a:xfrm>
          <a:off x="0" y="1147573"/>
          <a:ext cx="10512862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B65BD-A1DB-42F4-8460-FCF1C33071D0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1334F-ED48-4761-A916-6E1448F93C4C}">
      <dsp:nvSpPr>
        <dsp:cNvPr id="0" name=""/>
        <dsp:cNvSpPr/>
      </dsp:nvSpPr>
      <dsp:spPr>
        <a:xfrm>
          <a:off x="1058686" y="1147573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involves attracting, developing, motivating, and retaining employees in organizations.</a:t>
          </a:r>
        </a:p>
      </dsp:txBody>
      <dsp:txXfrm>
        <a:off x="1058686" y="1147573"/>
        <a:ext cx="9454175" cy="916611"/>
      </dsp:txXfrm>
    </dsp:sp>
    <dsp:sp modelId="{A83609AC-7D71-4417-BDEC-98D672A4455D}">
      <dsp:nvSpPr>
        <dsp:cNvPr id="0" name=""/>
        <dsp:cNvSpPr/>
      </dsp:nvSpPr>
      <dsp:spPr>
        <a:xfrm>
          <a:off x="0" y="2293338"/>
          <a:ext cx="10512862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92AE2-02FD-4D6A-B618-3F462F119C6D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0103A-3172-4597-A217-3A93497C2020}">
      <dsp:nvSpPr>
        <dsp:cNvPr id="0" name=""/>
        <dsp:cNvSpPr/>
      </dsp:nvSpPr>
      <dsp:spPr>
        <a:xfrm>
          <a:off x="1058686" y="2293338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Modern HRM views employees as human capital and strategic assets.</a:t>
          </a:r>
        </a:p>
      </dsp:txBody>
      <dsp:txXfrm>
        <a:off x="1058686" y="2293338"/>
        <a:ext cx="9454175" cy="916611"/>
      </dsp:txXfrm>
    </dsp:sp>
    <dsp:sp modelId="{53E00D73-A918-42E6-AE6F-A11BB0CD8662}">
      <dsp:nvSpPr>
        <dsp:cNvPr id="0" name=""/>
        <dsp:cNvSpPr/>
      </dsp:nvSpPr>
      <dsp:spPr>
        <a:xfrm>
          <a:off x="0" y="3439103"/>
          <a:ext cx="10512862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65801-FE62-464A-822C-FE06336C07BE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BC498-3F58-4B0E-8C93-DA555EB5D44F}">
      <dsp:nvSpPr>
        <dsp:cNvPr id="0" name=""/>
        <dsp:cNvSpPr/>
      </dsp:nvSpPr>
      <dsp:spPr>
        <a:xfrm>
          <a:off x="1058686" y="3439103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goal of HRM is to align employee performance with organizational objectives.</a:t>
          </a:r>
        </a:p>
      </dsp:txBody>
      <dsp:txXfrm>
        <a:off x="1058686" y="3439103"/>
        <a:ext cx="9454175" cy="916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98862-1B19-46B8-B18E-39D42762A6DF}">
      <dsp:nvSpPr>
        <dsp:cNvPr id="0" name=""/>
        <dsp:cNvSpPr/>
      </dsp:nvSpPr>
      <dsp:spPr>
        <a:xfrm>
          <a:off x="561872" y="754527"/>
          <a:ext cx="1445889" cy="144588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B0519-8326-4D9D-B519-23FAB24E1EC8}">
      <dsp:nvSpPr>
        <dsp:cNvPr id="0" name=""/>
        <dsp:cNvSpPr/>
      </dsp:nvSpPr>
      <dsp:spPr>
        <a:xfrm>
          <a:off x="870013" y="1062668"/>
          <a:ext cx="829609" cy="829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47C7B-FBB6-4EEE-AEAA-4F7F34F26BA0}">
      <dsp:nvSpPr>
        <dsp:cNvPr id="0" name=""/>
        <dsp:cNvSpPr/>
      </dsp:nvSpPr>
      <dsp:spPr>
        <a:xfrm>
          <a:off x="99661" y="2650777"/>
          <a:ext cx="2370311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Personnel Management emphasized administrative tasks such as payroll and record keeping.</a:t>
          </a:r>
        </a:p>
      </dsp:txBody>
      <dsp:txXfrm>
        <a:off x="99661" y="2650777"/>
        <a:ext cx="2370311" cy="787500"/>
      </dsp:txXfrm>
    </dsp:sp>
    <dsp:sp modelId="{1B00C260-392E-4143-84CB-613268D6A32A}">
      <dsp:nvSpPr>
        <dsp:cNvPr id="0" name=""/>
        <dsp:cNvSpPr/>
      </dsp:nvSpPr>
      <dsp:spPr>
        <a:xfrm>
          <a:off x="3346988" y="754527"/>
          <a:ext cx="1445889" cy="144588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CA72A-88CC-43D0-BA0E-305029AE931F}">
      <dsp:nvSpPr>
        <dsp:cNvPr id="0" name=""/>
        <dsp:cNvSpPr/>
      </dsp:nvSpPr>
      <dsp:spPr>
        <a:xfrm>
          <a:off x="3655129" y="1062668"/>
          <a:ext cx="829609" cy="829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3A3BD-0021-4926-BF87-BDA31747C313}">
      <dsp:nvSpPr>
        <dsp:cNvPr id="0" name=""/>
        <dsp:cNvSpPr/>
      </dsp:nvSpPr>
      <dsp:spPr>
        <a:xfrm>
          <a:off x="2884777" y="2650777"/>
          <a:ext cx="2370311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The Human Relations approach highlighted employee motivation, morale, and social needs.</a:t>
          </a:r>
        </a:p>
      </dsp:txBody>
      <dsp:txXfrm>
        <a:off x="2884777" y="2650777"/>
        <a:ext cx="2370311" cy="787500"/>
      </dsp:txXfrm>
    </dsp:sp>
    <dsp:sp modelId="{20ECFDD9-8E3C-46BB-A10C-22785899C87A}">
      <dsp:nvSpPr>
        <dsp:cNvPr id="0" name=""/>
        <dsp:cNvSpPr/>
      </dsp:nvSpPr>
      <dsp:spPr>
        <a:xfrm>
          <a:off x="6132104" y="754527"/>
          <a:ext cx="1445889" cy="144588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CF187-76D2-454A-80E1-120714E9C096}">
      <dsp:nvSpPr>
        <dsp:cNvPr id="0" name=""/>
        <dsp:cNvSpPr/>
      </dsp:nvSpPr>
      <dsp:spPr>
        <a:xfrm>
          <a:off x="6440244" y="1062668"/>
          <a:ext cx="829609" cy="829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A1643-EDC2-4383-BEBC-A6131307CFBF}">
      <dsp:nvSpPr>
        <dsp:cNvPr id="0" name=""/>
        <dsp:cNvSpPr/>
      </dsp:nvSpPr>
      <dsp:spPr>
        <a:xfrm>
          <a:off x="5669893" y="2650777"/>
          <a:ext cx="2370311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Human Resource Management introduced systematic training and performance management</a:t>
          </a:r>
          <a:r>
            <a:rPr lang="en-US" sz="1200" kern="1200" dirty="0"/>
            <a:t>.</a:t>
          </a:r>
        </a:p>
      </dsp:txBody>
      <dsp:txXfrm>
        <a:off x="5669893" y="2650777"/>
        <a:ext cx="2370311" cy="787500"/>
      </dsp:txXfrm>
    </dsp:sp>
    <dsp:sp modelId="{8A1BBBD5-BEB5-4AF7-9CB1-E75AEA260798}">
      <dsp:nvSpPr>
        <dsp:cNvPr id="0" name=""/>
        <dsp:cNvSpPr/>
      </dsp:nvSpPr>
      <dsp:spPr>
        <a:xfrm>
          <a:off x="8917220" y="754527"/>
          <a:ext cx="1445889" cy="144588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3651A-3F1E-494F-8BB3-17295CF797CE}">
      <dsp:nvSpPr>
        <dsp:cNvPr id="0" name=""/>
        <dsp:cNvSpPr/>
      </dsp:nvSpPr>
      <dsp:spPr>
        <a:xfrm>
          <a:off x="9225360" y="1062668"/>
          <a:ext cx="829609" cy="829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8383A-0512-49DB-9EFD-63E02B052B95}">
      <dsp:nvSpPr>
        <dsp:cNvPr id="0" name=""/>
        <dsp:cNvSpPr/>
      </dsp:nvSpPr>
      <dsp:spPr>
        <a:xfrm>
          <a:off x="8455009" y="2650777"/>
          <a:ext cx="2370311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Strategic HRM integrates HR policies with organizational strategy and long-term goals</a:t>
          </a:r>
          <a:r>
            <a:rPr lang="en-US" sz="1200" b="1" kern="1200" dirty="0"/>
            <a:t>.</a:t>
          </a:r>
        </a:p>
      </dsp:txBody>
      <dsp:txXfrm>
        <a:off x="8455009" y="2650777"/>
        <a:ext cx="2370311" cy="787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F3D05-6446-2846-8666-C0CD391011F1}">
      <dsp:nvSpPr>
        <dsp:cNvPr id="0" name=""/>
        <dsp:cNvSpPr/>
      </dsp:nvSpPr>
      <dsp:spPr>
        <a:xfrm>
          <a:off x="0" y="725359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Then: Personnel records, compliance, and routine administration.</a:t>
          </a:r>
        </a:p>
      </dsp:txBody>
      <dsp:txXfrm>
        <a:off x="62141" y="787500"/>
        <a:ext cx="6540815" cy="1148678"/>
      </dsp:txXfrm>
    </dsp:sp>
    <dsp:sp modelId="{670331C9-623E-B44B-A4D8-A971117E5B73}">
      <dsp:nvSpPr>
        <dsp:cNvPr id="0" name=""/>
        <dsp:cNvSpPr/>
      </dsp:nvSpPr>
      <dsp:spPr>
        <a:xfrm>
          <a:off x="0" y="2090480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Now: Talent strategy, analytics, culture, and employee experience.</a:t>
          </a:r>
        </a:p>
      </dsp:txBody>
      <dsp:txXfrm>
        <a:off x="62141" y="2152621"/>
        <a:ext cx="6540815" cy="1148678"/>
      </dsp:txXfrm>
    </dsp:sp>
    <dsp:sp modelId="{8768CA48-1DD8-1544-B186-47F58D8E9F72}">
      <dsp:nvSpPr>
        <dsp:cNvPr id="0" name=""/>
        <dsp:cNvSpPr/>
      </dsp:nvSpPr>
      <dsp:spPr>
        <a:xfrm>
          <a:off x="0" y="3455600"/>
          <a:ext cx="6665097" cy="127296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Shift driven by globalization, technology, and post-COVID realities.</a:t>
          </a:r>
        </a:p>
      </dsp:txBody>
      <dsp:txXfrm>
        <a:off x="62141" y="3517741"/>
        <a:ext cx="6540815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67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course and explain that Chapter 1 lays the conceptual foundation of HRM. Emphasize its importance for understanding all subsequent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CLOs and PLOs briefly so students understand learning expectations. Highlight that this chapter builds core business understanding rather than technical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HRM as both a philosophy and a set of practices. Clarify how managing people differs from managing other organizational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students through each stage of evolution with examples. Stress why modern organizations need strategic HRM rather than traditional personnel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HRM covers the entire employee lifecycle. Mention that each of these areas will be discussed in later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HRM to business success and competitiveness. Give simple examples of how poor HR decisions can harm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staffing, training, and rewards influence employee behavior. Relate HR decisions directly to organizational goal achievement.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HR work as lifecycle supporting employees from entry to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long-term changes caused by COVID-19. Highlight the expanding role of HR in employee well-being and work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global examples to show practical application of HRM concepts. Encourage students to think critically about HR practices in global 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HRM theory to the Pakistani context. Ask students for local examples from organizations they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examples: anti-discrimination laws, OSHA-type safety rules, ethical dilemmas in layoffs.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cultural competence, expatriate management, and diversity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Caution: ethical use of AI, biases in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chapter and reinforce its relevance for the entire course. Prepare students for the next unit on human resource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this story verbally. Pause and ask: Was this a business failure or an HR failure? Link back to Chapter 1 foundations and strategic HRM.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icons or simple visuals: files vs people, clock vs graph. Ask students which model Pakistani firms mostly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trend briefly and relate it to modern organizations. Mention that these topics will be explored in detail in later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84029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discussion: how should HR adapt policies for hybrid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students 2 minutes to discuss in pairs. Invite 2–3 responses and connect answers to CLO-1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students to share examples they observed. Highlight HR’s ethical and strategic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the class with reflection instead of summary. Let students think before responding.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Light moment. Use humor to reset attention, then link to strategic HRM.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1: Foundations of Human Resource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HRM 350 </a:t>
            </a:r>
            <a:endParaRPr lang="en-US" dirty="0"/>
          </a:p>
          <a:p>
            <a:r>
              <a:rPr dirty="0"/>
              <a:t>DeCenzo, Robbins &amp; Verhulst (11th ed., Wiley, 2013)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CLO–PLO Alignment (Chapter 1)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EDA4446-8E78-E520-EB40-957C840D29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939734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GB" sz="4100"/>
              <a:t>Introduction to Human Resource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938482-BE35-0EB6-089C-08F0D183F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670903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Evolution of Human Resource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2CE6B2-E668-2B22-46AF-5D8769F76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679413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Scope of Human Resource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Human resource planning ensures availability of qualified employees for future needs.</a:t>
            </a:r>
          </a:p>
          <a:p>
            <a:pPr>
              <a:defRPr sz="1700"/>
            </a:pPr>
            <a:r>
              <a:rPr dirty="0"/>
              <a:t>Recruitment and selection focus on attracting and choosing the best candidates.</a:t>
            </a:r>
          </a:p>
          <a:p>
            <a:pPr>
              <a:defRPr sz="1700"/>
            </a:pPr>
            <a:r>
              <a:rPr dirty="0"/>
              <a:t>Training and development enhance employee skills, knowledge, and career growth.</a:t>
            </a:r>
          </a:p>
          <a:p>
            <a:pPr>
              <a:defRPr sz="1700"/>
            </a:pPr>
            <a:r>
              <a:rPr dirty="0"/>
              <a:t>Performance management and compensation motivate and retain employees.</a:t>
            </a:r>
          </a:p>
          <a:p>
            <a:pPr>
              <a:defRPr sz="1700"/>
            </a:pPr>
            <a:r>
              <a:rPr dirty="0"/>
              <a:t>Employee relations, ethics, and safety ensure a healthy work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Importance of HRM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HRM aligns workforce capabilities with the organization’s mission and strategy.</a:t>
            </a:r>
          </a:p>
          <a:p>
            <a:pPr>
              <a:defRPr sz="1700"/>
            </a:pPr>
            <a:r>
              <a:t>Effective HR practices support innovation, quality, and productivity.</a:t>
            </a:r>
          </a:p>
          <a:p>
            <a:pPr>
              <a:defRPr sz="1700"/>
            </a:pPr>
            <a:r>
              <a:t>Human capital is difficult for competitors to imitate, creating competitive advantage.</a:t>
            </a:r>
          </a:p>
          <a:p>
            <a:pPr>
              <a:defRPr sz="1700"/>
            </a:pPr>
            <a:r>
              <a:t>Strategic HRM improves organizational performance and sustainability.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Role of HR in Achieving Organizational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HR ensures the organization has the right people with appropriate skills.</a:t>
            </a:r>
          </a:p>
          <a:p>
            <a:pPr>
              <a:defRPr sz="1700"/>
            </a:pPr>
            <a:r>
              <a:rPr dirty="0"/>
              <a:t>Training programs help employees contribute effectively to organizational objectives.</a:t>
            </a:r>
          </a:p>
          <a:p>
            <a:pPr>
              <a:defRPr sz="1700"/>
            </a:pPr>
            <a:r>
              <a:rPr dirty="0"/>
              <a:t>Performance appraisal and rewards encourage goal-oriented behavior.</a:t>
            </a:r>
          </a:p>
          <a:p>
            <a:pPr>
              <a:defRPr sz="1700"/>
            </a:pPr>
            <a:r>
              <a:rPr dirty="0"/>
              <a:t>HR builds organizational culture that supports commitment and teamwork.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Activities — Employee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Prepare job analyses &amp; job descriptions</a:t>
            </a:r>
          </a:p>
          <a:p>
            <a:pPr>
              <a:defRPr sz="2000"/>
            </a:pPr>
            <a:r>
              <a:t>Attract applicants; select and hire</a:t>
            </a:r>
          </a:p>
          <a:p>
            <a:pPr>
              <a:defRPr sz="2000"/>
            </a:pPr>
            <a:r>
              <a:t>Orient, train, and develop employees</a:t>
            </a:r>
          </a:p>
          <a:p>
            <a:pPr>
              <a:defRPr sz="2000"/>
            </a:pPr>
            <a:r>
              <a:t>Evaluate performance and reward</a:t>
            </a:r>
          </a:p>
          <a:p>
            <a:pPr>
              <a:defRPr sz="2000"/>
            </a:pPr>
            <a:r>
              <a:t>Manage exits and retain institutional knowledge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HRM in Post-COVID Workplaces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The COVID-19 pandemic accelerated remote and hybrid work arrangements.</a:t>
            </a:r>
          </a:p>
          <a:p>
            <a:pPr>
              <a:defRPr sz="1700"/>
            </a:pPr>
            <a:r>
              <a:rPr dirty="0"/>
              <a:t>Employee health, safety, and mental well-being became HR priorities.</a:t>
            </a:r>
          </a:p>
          <a:p>
            <a:pPr>
              <a:defRPr sz="1700"/>
            </a:pPr>
            <a:r>
              <a:rPr dirty="0"/>
              <a:t>HR processes increasingly rely on digital platforms and virtual communication.</a:t>
            </a:r>
          </a:p>
          <a:p>
            <a:pPr>
              <a:defRPr sz="1700"/>
            </a:pPr>
            <a:r>
              <a:rPr dirty="0"/>
              <a:t>Post-COVID HRM emphasizes flexibility, resilience, and crisis preparedness.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Global Case Example: Strategic HRM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Google uses people analytics to enhance hiring quality and employee engagement.</a:t>
            </a:r>
          </a:p>
          <a:p>
            <a:pPr>
              <a:defRPr sz="1700"/>
            </a:pPr>
            <a:r>
              <a:t>Unilever aligns leadership development with long-term strategic objectives.</a:t>
            </a:r>
          </a:p>
          <a:p>
            <a:pPr>
              <a:defRPr sz="1700"/>
            </a:pPr>
            <a:r>
              <a:t>These organizations show how HRM contributes to innovation and competitiveness.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Pakistan Case Example: HRM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Engro Corporation invests in leadership development and talent management.</a:t>
            </a:r>
          </a:p>
          <a:p>
            <a:pPr>
              <a:defRPr sz="1700"/>
            </a:pPr>
            <a:r>
              <a:t>HBL uses digital HR systems and performance-based management.</a:t>
            </a:r>
          </a:p>
          <a:p>
            <a:pPr>
              <a:defRPr sz="1700"/>
            </a:pPr>
            <a:r>
              <a:t>Pakistani organizations increasingly recognize HR as a strategic function.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&amp; Ethical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Employment laws shape hiring, pay, and workplace practices</a:t>
            </a:r>
          </a:p>
          <a:p>
            <a:pPr>
              <a:defRPr sz="2000"/>
            </a:pPr>
            <a:r>
              <a:t>Common areas: anti-discrimination, wages/hours, safety, privacy</a:t>
            </a:r>
          </a:p>
          <a:p>
            <a:pPr>
              <a:defRPr sz="2000"/>
            </a:pPr>
            <a:r>
              <a:t>Ethical obligations: fairness, confidentiality, transparency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Diversity &amp; Globalization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Workforce diversity: age, gender, ethnicity, abilities, cultures</a:t>
            </a:r>
          </a:p>
          <a:p>
            <a:pPr>
              <a:defRPr sz="2000"/>
            </a:pPr>
            <a:r>
              <a:t>Globalization expands talent pools and cross-cultural challenges</a:t>
            </a:r>
          </a:p>
          <a:p>
            <a:pPr>
              <a:defRPr sz="2000"/>
            </a:pPr>
            <a:r>
              <a:t>Inclusive practices improve performance and innovation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HRIS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HRIS for data management: recruitment, payroll, performance</a:t>
            </a:r>
          </a:p>
          <a:p>
            <a:pPr>
              <a:defRPr sz="2000"/>
            </a:pPr>
            <a:r>
              <a:t>Analytics and HR metrics enable data-driven decisions</a:t>
            </a:r>
          </a:p>
          <a:p>
            <a:pPr>
              <a:defRPr sz="2000"/>
            </a:pPr>
            <a:r>
              <a:t>Automation and AI affect recruiting, training, and forecasting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 –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HRM is a foundational and strategic function in modern organizations.</a:t>
            </a:r>
          </a:p>
          <a:p>
            <a:pPr>
              <a:defRPr sz="1700"/>
            </a:pPr>
            <a:r>
              <a:t>The evolution of HRM reflects economic, technological, and social change.</a:t>
            </a:r>
          </a:p>
          <a:p>
            <a:pPr>
              <a:defRPr sz="1700"/>
            </a:pPr>
            <a:r>
              <a:t>Effective HRM directly supports organizational goals and performance.</a:t>
            </a:r>
          </a:p>
          <a:p>
            <a:pPr>
              <a:defRPr sz="1700"/>
            </a:pPr>
            <a:r>
              <a:t>Post-COVID realities require flexible, digital, and people-centered HR practices.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5030" y="-2664601"/>
            <a:ext cx="6858000" cy="12188058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0" y="0"/>
            <a:ext cx="9068483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7903" y="-1684252"/>
            <a:ext cx="4894564" cy="1219037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5FD1675E-1930-7461-5207-8BD7389249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2612" y="457200"/>
            <a:ext cx="5943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67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546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887" y="480060"/>
            <a:ext cx="11235050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No alternative text description for this image">
            <a:extLst>
              <a:ext uri="{FF2B5EF4-FFF2-40B4-BE49-F238E27FC236}">
                <a16:creationId xmlns:a16="http://schemas.microsoft.com/office/drawing/2014/main" id="{E0534664-2A4D-ED3C-BA1C-1AB5DBCF71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62083" y="643464"/>
            <a:ext cx="5436000" cy="575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698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Short HR Story: Hiring Fast, Failing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startup hired 200 people rapidly without job analysis or onboarding.</a:t>
            </a:r>
          </a:p>
          <a:p>
            <a:pPr>
              <a:defRPr sz="1800"/>
            </a:pPr>
            <a:r>
              <a:t>Within a year, high turnover and low productivity hurt performance.</a:t>
            </a:r>
          </a:p>
          <a:p>
            <a:pPr>
              <a:defRPr sz="1800"/>
            </a:pPr>
            <a:r>
              <a:t>The failure was not technology—but weak HR foundations.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492440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5833" y="0"/>
            <a:ext cx="2529064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133" name="Freeform: Shape 5132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3832" y="0"/>
            <a:ext cx="2535773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A748081-D72A-BD35-73A3-F12969564A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0105" y="201478"/>
            <a:ext cx="9344792" cy="652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72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4000">
                <a:solidFill>
                  <a:srgbClr val="FFFFFF"/>
                </a:solidFill>
              </a:rPr>
              <a:t>Visual Comparison: HR Then vs HR Now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50FF80-7A02-6B83-39C2-6384C1EF8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218974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3C87-8026-E055-1390-346253CF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6146" name="Picture 2" descr="No alternative text description for this image">
            <a:extLst>
              <a:ext uri="{FF2B5EF4-FFF2-40B4-BE49-F238E27FC236}">
                <a16:creationId xmlns:a16="http://schemas.microsoft.com/office/drawing/2014/main" id="{8CC4ED50-A72B-7E7A-5FCA-180071D442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186" y="0"/>
            <a:ext cx="5819614" cy="671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493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Contemporary HR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rPr dirty="0"/>
              <a:t>Digital HR and HRIS improve efficiency and decision-making.</a:t>
            </a:r>
          </a:p>
          <a:p>
            <a:pPr>
              <a:defRPr sz="1700"/>
            </a:pPr>
            <a:r>
              <a:rPr dirty="0"/>
              <a:t>People analytics supports evidence-based HR decisions.</a:t>
            </a:r>
          </a:p>
          <a:p>
            <a:pPr>
              <a:defRPr sz="1700"/>
            </a:pPr>
            <a:r>
              <a:rPr dirty="0"/>
              <a:t>Diversity, equity, and inclusion promote fairness and innovation.</a:t>
            </a:r>
          </a:p>
          <a:p>
            <a:pPr>
              <a:defRPr sz="1700"/>
            </a:pPr>
            <a:r>
              <a:rPr dirty="0"/>
              <a:t>Flexible work arrangements and gig employment are increasingly common.</a:t>
            </a:r>
          </a:p>
        </p:txBody>
      </p:sp>
    </p:spTree>
    <p:extLst>
      <p:ext uri="{BB962C8B-B14F-4D97-AF65-F5344CB8AC3E}">
        <p14:creationId xmlns:p14="http://schemas.microsoft.com/office/powerpoint/2010/main" val="1374636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Trends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Gig economy and flexible work arrangements</a:t>
            </a:r>
          </a:p>
          <a:p>
            <a:pPr>
              <a:defRPr sz="2000"/>
            </a:pPr>
            <a:r>
              <a:t>Remote work and hybrid models</a:t>
            </a:r>
          </a:p>
          <a:p>
            <a:pPr>
              <a:defRPr sz="2000"/>
            </a:pPr>
            <a:r>
              <a:t>Reskilling &amp; continuous learning</a:t>
            </a:r>
          </a:p>
          <a:p>
            <a:pPr>
              <a:defRPr sz="2000"/>
            </a:pPr>
            <a:r>
              <a:t>Employee well-being and mental health focus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5030" y="-2664601"/>
            <a:ext cx="6858000" cy="12188058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0" y="0"/>
            <a:ext cx="9068483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7903" y="-1684252"/>
            <a:ext cx="4894564" cy="1219037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HR Evolution: From Compliance to Strategic Partner | Durgaprasad Rajavarapu  posted on the topic | LinkedIn">
            <a:extLst>
              <a:ext uri="{FF2B5EF4-FFF2-40B4-BE49-F238E27FC236}">
                <a16:creationId xmlns:a16="http://schemas.microsoft.com/office/drawing/2014/main" id="{C4F40C0C-F3F1-35AC-C284-FE7D884FDA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59183" y="457200"/>
            <a:ext cx="7270458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27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Class Activity: You Are the HR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Scenario: Employees demand hybrid work; managers want full-time office work.</a:t>
            </a:r>
          </a:p>
          <a:p>
            <a:pPr>
              <a:defRPr sz="1800"/>
            </a:pPr>
            <a:r>
              <a:t>Question: What should HR recommend and why?</a:t>
            </a:r>
          </a:p>
          <a:p>
            <a:pPr>
              <a:defRPr sz="1800"/>
            </a:pPr>
            <a:r>
              <a:t>Link your answer to strategic HRM and post-COVID HR practices.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Pakistan Context Story: HR During COVID-19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Some firms reduced salaries abruptly; others communicated transparently.</a:t>
            </a:r>
          </a:p>
          <a:p>
            <a:pPr>
              <a:defRPr sz="1800"/>
            </a:pPr>
            <a:r>
              <a:rPr dirty="0"/>
              <a:t>Companies investing in employee well-being retained talent post-COVID.</a:t>
            </a:r>
          </a:p>
          <a:p>
            <a:pPr>
              <a:defRPr sz="1800"/>
            </a:pPr>
            <a:r>
              <a:rPr dirty="0"/>
              <a:t>HR decisions shaped trust, loyalty, and recovery.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Question (Closing)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If HR disappeared tomorrow, would organizations survive one year?</a:t>
            </a:r>
          </a:p>
          <a:p>
            <a:pPr>
              <a:defRPr sz="1800"/>
            </a:pPr>
            <a:r>
              <a:t>Is HR mainly for employees, management, or both?</a:t>
            </a:r>
          </a:p>
          <a:p>
            <a:pPr>
              <a:defRPr sz="1800"/>
            </a:pPr>
            <a:r>
              <a:t>How should HR add value in modern organizations?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dirty="0"/>
              <a:t>HR Meme Break 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“Employees are our greatest asset”</a:t>
            </a:r>
          </a:p>
          <a:p>
            <a:endParaRPr/>
          </a:p>
          <a:p>
            <a:r>
              <a:t>💸 Training Budget: Rs. 0</a:t>
            </a:r>
          </a:p>
          <a:p>
            <a:endParaRPr/>
          </a:p>
          <a:p>
            <a:r>
              <a:t>➡ Why strategy must match HR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1381</Words>
  <Application>Microsoft Office PowerPoint</Application>
  <PresentationFormat>Custom</PresentationFormat>
  <Paragraphs>129</Paragraphs>
  <Slides>28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Meiryo</vt:lpstr>
      <vt:lpstr>Arial</vt:lpstr>
      <vt:lpstr>Calibri</vt:lpstr>
      <vt:lpstr>Office Theme</vt:lpstr>
      <vt:lpstr>Chapter 1: Foundations of Human Resource Management</vt:lpstr>
      <vt:lpstr>CLO–PLO Alignment (Chapter 1)</vt:lpstr>
      <vt:lpstr>Introduction to Human Resource Management</vt:lpstr>
      <vt:lpstr>Evolution of Human Resource Management</vt:lpstr>
      <vt:lpstr>Scope of Human Resource Management</vt:lpstr>
      <vt:lpstr>Strategic Importance of HRM</vt:lpstr>
      <vt:lpstr>Role of HR in Achieving Organizational Goals</vt:lpstr>
      <vt:lpstr>HR Activities — Employee Lifecycle</vt:lpstr>
      <vt:lpstr>HRM in Post-COVID Workplaces</vt:lpstr>
      <vt:lpstr>Global Case Example: Strategic HRM</vt:lpstr>
      <vt:lpstr>Pakistan Case Example: HRM in Practice</vt:lpstr>
      <vt:lpstr>Legal &amp; Ethical Environment</vt:lpstr>
      <vt:lpstr>Diversity &amp; Globalization</vt:lpstr>
      <vt:lpstr>Technology &amp; HRIS</vt:lpstr>
      <vt:lpstr>Chapter 1 – Key Takeaways</vt:lpstr>
      <vt:lpstr>PowerPoint Presentation</vt:lpstr>
      <vt:lpstr>PowerPoint Presentation</vt:lpstr>
      <vt:lpstr>Short HR Story: Hiring Fast, Failing Faster</vt:lpstr>
      <vt:lpstr>PowerPoint Presentation</vt:lpstr>
      <vt:lpstr>Visual Comparison: HR Then vs HR Now</vt:lpstr>
      <vt:lpstr>PowerPoint Presentation</vt:lpstr>
      <vt:lpstr>Contemporary HR Trends</vt:lpstr>
      <vt:lpstr>Emerging Trends &amp; Challenges</vt:lpstr>
      <vt:lpstr>PowerPoint Presentation</vt:lpstr>
      <vt:lpstr>Class Activity: You Are the HR Manager</vt:lpstr>
      <vt:lpstr>Pakistan Context Story: HR During COVID-19</vt:lpstr>
      <vt:lpstr>Reflection Question (Closing)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FA22-BCS-128 (MUHAMMAD SARIM)</cp:lastModifiedBy>
  <cp:revision>11</cp:revision>
  <dcterms:created xsi:type="dcterms:W3CDTF">2013-01-27T09:14:16Z</dcterms:created>
  <dcterms:modified xsi:type="dcterms:W3CDTF">2026-04-11T10:59:54Z</dcterms:modified>
  <cp:category/>
</cp:coreProperties>
</file>